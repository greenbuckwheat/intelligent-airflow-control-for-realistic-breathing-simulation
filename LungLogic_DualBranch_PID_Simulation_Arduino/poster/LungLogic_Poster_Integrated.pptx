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4389120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292608"/>
            <a:ext cx="29763719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FFFFFF"/>
                </a:solidFill>
                <a:latin typeface="Arial"/>
              </a:rPr>
              <a:t>LungLogic: Model-Based Airflow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481328"/>
            <a:ext cx="29763719" cy="1243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FFFFFF"/>
                </a:solidFill>
                <a:latin typeface="Arial"/>
              </a:rPr>
              <a:t>with Measured-Delay Compensation and Auto PID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3273552"/>
            <a:ext cx="29763719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FFFFF"/>
                </a:solidFill>
                <a:latin typeface="Arial"/>
              </a:rPr>
              <a:t>ME-12-TYIN-007 | Yuqiao Li, Chun Yin Ku (John), Jiaquan Zhong | Supervisors: Jonathan Eden, Ying Tan | Mechatronics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4681728"/>
            <a:ext cx="14685263" cy="17492472"/>
          </a:xfrm>
          <a:prstGeom prst="rect">
            <a:avLst/>
          </a:prstGeom>
          <a:solidFill>
            <a:srgbClr val="FFFFFF"/>
          </a:solidFill>
          <a:ln w="1524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4681728"/>
            <a:ext cx="14685263" cy="859536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4791456"/>
            <a:ext cx="143560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1.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42432"/>
            <a:ext cx="141732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1.1 Project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14127480" cy="2011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Dynamic lung phantoms support imaging and ventilation research. Existing products and laboratory systems do not combine programmable timing, repeatable volume and independent left/right actuation.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8394192"/>
            <a:ext cx="141732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1.2 Project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979408"/>
            <a:ext cx="14127480" cy="1627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LungLogic develops a pneumatic and software platform to control a medical biomimetic lung model. This stage validates one 250 mL branch before bilateral integration.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0698480"/>
            <a:ext cx="141732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1.3 Nominal breathing reference</a:t>
            </a:r>
          </a:p>
        </p:txBody>
      </p:sp>
      <p:pic>
        <p:nvPicPr>
          <p:cNvPr id="14" name="Picture 13" descr="nominal_breathing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042" y="11420856"/>
            <a:ext cx="9826378" cy="3246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14794992"/>
            <a:ext cx="141000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Breathing-cycle illustration at 15 bpm and I:E = 1:2.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57784" y="15526512"/>
          <a:ext cx="1406347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8348472"/>
              </a:tblGrid>
              <a:tr h="868680">
                <a:tc>
                  <a:txBody>
                    <a:bodyPr/>
                    <a:lstStyle/>
                    <a:p>
                      <a:r>
                        <a:rPr sz="3600" b="1">
                          <a:solidFill>
                            <a:srgbClr val="17324D"/>
                          </a:solidFill>
                          <a:latin typeface="Arial"/>
                        </a:rPr>
                        <a:t>RR · respiratory rate</a:t>
                      </a:r>
                    </a:p>
                  </a:txBody>
                  <a:tcPr marL="155448" marT="109728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600" b="0">
                          <a:solidFill>
                            <a:srgbClr val="17324D"/>
                          </a:solidFill>
                          <a:latin typeface="Arial"/>
                        </a:rPr>
                        <a:t>12–16 bpm; nominal 15 bpm</a:t>
                      </a:r>
                    </a:p>
                  </a:txBody>
                  <a:tcPr marL="155448" marT="109728">
                    <a:solidFill>
                      <a:srgbClr val="F6F9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3600" b="1">
                          <a:solidFill>
                            <a:srgbClr val="17324D"/>
                          </a:solidFill>
                          <a:latin typeface="Arial"/>
                        </a:rPr>
                        <a:t>I:E · inhale:exhale time</a:t>
                      </a:r>
                    </a:p>
                  </a:txBody>
                  <a:tcPr marL="15544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600" b="0">
                          <a:solidFill>
                            <a:srgbClr val="17324D"/>
                          </a:solidFill>
                          <a:latin typeface="Arial"/>
                        </a:rPr>
                        <a:t>1:2; 1.33 s / 2.67 s at 15 bpm</a:t>
                      </a:r>
                    </a:p>
                  </a:txBody>
                  <a:tcPr marL="155448" marT="109728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3600" b="1">
                          <a:solidFill>
                            <a:srgbClr val="17324D"/>
                          </a:solidFill>
                          <a:latin typeface="Arial"/>
                        </a:rPr>
                        <a:t>VT · tidal volume</a:t>
                      </a:r>
                    </a:p>
                  </a:txBody>
                  <a:tcPr marL="155448" marT="109728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600" b="0">
                          <a:solidFill>
                            <a:srgbClr val="17324D"/>
                          </a:solidFill>
                          <a:latin typeface="Arial"/>
                        </a:rPr>
                        <a:t>250 mL per branch</a:t>
                      </a:r>
                    </a:p>
                  </a:txBody>
                  <a:tcPr marL="155448" marT="109728">
                    <a:solidFill>
                      <a:srgbClr val="F6F9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3600" b="1">
                          <a:solidFill>
                            <a:srgbClr val="17324D"/>
                          </a:solidFill>
                          <a:latin typeface="Arial"/>
                        </a:rPr>
                        <a:t>Repeatability</a:t>
                      </a:r>
                    </a:p>
                  </a:txBody>
                  <a:tcPr marL="15544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600" b="0">
                          <a:solidFill>
                            <a:srgbClr val="17324D"/>
                          </a:solidFill>
                          <a:latin typeface="Arial"/>
                        </a:rPr>
                        <a:t>VT error within ±5%</a:t>
                      </a:r>
                    </a:p>
                  </a:txBody>
                  <a:tcPr marL="155448" marT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66928" y="19120104"/>
            <a:ext cx="14063472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86878"/>
                </a:solidFill>
                <a:latin typeface="Arial"/>
              </a:rPr>
              <a:t>Nominal design values, not measured performance. The 250 mL branch target is half of the ~500 mL adult tidal-volume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0061936"/>
            <a:ext cx="14063472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86878"/>
                </a:solidFill>
                <a:latin typeface="Arial"/>
              </a:rPr>
              <a:t>Source: 4DMedical project scope, 19 March 2026, pp. 5 and 13. The ±5% repeatability value is a design target.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188184" y="4681728"/>
            <a:ext cx="14831567" cy="17492472"/>
          </a:xfrm>
          <a:prstGeom prst="rect">
            <a:avLst/>
          </a:prstGeom>
          <a:solidFill>
            <a:srgbClr val="FFFFFF"/>
          </a:solidFill>
          <a:ln w="1524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188184" y="4681728"/>
            <a:ext cx="14831567" cy="859536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52776" y="4791456"/>
            <a:ext cx="1450238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2. Pneumatic System &amp; 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44216" y="5742432"/>
            <a:ext cx="14191488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2.1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444216" y="6263640"/>
            <a:ext cx="14191488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Control one lung branch and measure airflow for closed-loop regulation and calibration.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44216" y="7827264"/>
            <a:ext cx="14191488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2.2 Pneumatic system prototype</a:t>
            </a:r>
          </a:p>
        </p:txBody>
      </p:sp>
      <p:pic>
        <p:nvPicPr>
          <p:cNvPr id="25" name="Picture 24" descr="source_pneumatic_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2898" y="8577072"/>
            <a:ext cx="4268067" cy="656539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2475952" y="8458200"/>
            <a:ext cx="6894576" cy="6812280"/>
          </a:xfrm>
          <a:prstGeom prst="roundRect">
            <a:avLst/>
          </a:prstGeom>
          <a:solidFill>
            <a:srgbClr val="F5F7F9"/>
          </a:solidFill>
          <a:ln w="1778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978872" y="11192256"/>
            <a:ext cx="589788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586878"/>
                </a:solidFill>
                <a:latin typeface="Arial"/>
              </a:rPr>
              <a:t>Prototype photograph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586878"/>
                </a:solidFill>
                <a:latin typeface="Arial"/>
              </a:rPr>
              <a:t>(to be added)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462504" y="15325344"/>
            <a:ext cx="14136624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1. Single-lung route; prototype photograph pending.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44216" y="16148304"/>
            <a:ext cx="14191488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2.3 Embedded control architecture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563088" y="16824960"/>
            <a:ext cx="2962656" cy="1060704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627096" y="17053560"/>
            <a:ext cx="28346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PC / Python UI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937224" y="16824960"/>
            <a:ext cx="3145536" cy="1060704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001232" y="17053560"/>
            <a:ext cx="301752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Controller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512528" y="16824960"/>
            <a:ext cx="3145536" cy="1060704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576536" y="17053560"/>
            <a:ext cx="301752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24 V bridge PCB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069544" y="16824960"/>
            <a:ext cx="3255264" cy="1060704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133552" y="17053560"/>
            <a:ext cx="3127248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Valves + sensor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571464" y="17071848"/>
            <a:ext cx="320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586878"/>
                </a:solidFill>
                <a:latin typeface="Arial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8480" y="17071848"/>
            <a:ext cx="320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586878"/>
                </a:solidFill>
                <a:latin typeface="Arial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94640" y="17071848"/>
            <a:ext cx="320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586878"/>
                </a:solidFill>
                <a:latin typeface="Arial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81376" y="18059400"/>
            <a:ext cx="8961120" cy="1874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The controller runs the 100 Hz breathing and flow loop. The bridge connects logic to the routing valves, PPV and SFM3300 sensor.</a:t>
            </a:r>
          </a:p>
        </p:txBody>
      </p:sp>
      <p:pic>
        <p:nvPicPr>
          <p:cNvPr id="42" name="Picture 41" descr="source_bridge_p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2713" y="18178272"/>
            <a:ext cx="1594485" cy="2834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5462504" y="21168360"/>
            <a:ext cx="14136624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2. Control architecture and bridge PCB.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22677120"/>
            <a:ext cx="29763719" cy="10287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6032" y="22677120"/>
            <a:ext cx="29763719" cy="859536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22786848"/>
            <a:ext cx="29434535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3. Integrated Control System &amp; Software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23737824"/>
            <a:ext cx="2916936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3.1 Objective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24259032"/>
            <a:ext cx="29151072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Track flow and tidal volume with a visible, repeatable closed-loop system. Feedforward supplies the nominal valve command; sensor feedback corrects error.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" y="25374600"/>
            <a:ext cx="14026896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3.2 Operator and developer interface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25941528"/>
            <a:ext cx="66568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User Mode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90688" y="25941528"/>
            <a:ext cx="66568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Developer Mode</a:t>
            </a:r>
          </a:p>
        </p:txBody>
      </p:sp>
      <p:pic>
        <p:nvPicPr>
          <p:cNvPr id="52" name="Picture 51" descr="source_user_m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719" y="26508456"/>
            <a:ext cx="6010129" cy="3822191"/>
          </a:xfrm>
          <a:prstGeom prst="rect">
            <a:avLst/>
          </a:prstGeom>
        </p:spPr>
      </p:pic>
      <p:pic>
        <p:nvPicPr>
          <p:cNvPr id="53" name="Picture 52" descr="source_developer_m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600" y="26508456"/>
            <a:ext cx="5989870" cy="382219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94360" y="30449519"/>
            <a:ext cx="139903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3. User and Developer modes.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343632" y="25374600"/>
            <a:ext cx="1426464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3.3 Model-assisted flow feedback</a:t>
            </a:r>
          </a:p>
        </p:txBody>
      </p:sp>
      <p:pic>
        <p:nvPicPr>
          <p:cNvPr id="56" name="Picture 55" descr="integrated_control_lo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13506" y="26060400"/>
            <a:ext cx="12724890" cy="440740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5380208" y="30623256"/>
            <a:ext cx="14209776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4. Feedback control with optional Smith prediction.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31318200"/>
            <a:ext cx="28968192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3.4 Auto PID and measured-delay compensation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31885127"/>
            <a:ext cx="28949904" cy="8778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Auto PID scores bounded Kp/Ki trials. Smith prediction uses the identified model and measured delay; hardware adds no artificial delay.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" y="33192719"/>
            <a:ext cx="29763719" cy="8997696"/>
          </a:xfrm>
          <a:prstGeom prst="rect">
            <a:avLst/>
          </a:prstGeom>
          <a:solidFill>
            <a:srgbClr val="FFFFFF"/>
          </a:solidFill>
          <a:ln w="1524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6032" y="33192719"/>
            <a:ext cx="29763719" cy="859536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624" y="33302447"/>
            <a:ext cx="29434535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4. Results &amp; Future Work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34253424"/>
            <a:ext cx="1888236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4.1 Experimental results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76072" y="34875216"/>
            <a:ext cx="18790920" cy="5175504"/>
          </a:xfrm>
          <a:prstGeom prst="roundRect">
            <a:avLst/>
          </a:prstGeom>
          <a:solidFill>
            <a:srgbClr val="F5F7F9"/>
          </a:solidFill>
          <a:ln w="1778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74519" y="36164520"/>
            <a:ext cx="161848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586878"/>
                </a:solidFill>
                <a:latin typeface="Arial"/>
              </a:rPr>
              <a:t>EXPERIMENTAL RESULTS TO BE ADDED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74519" y="36987480"/>
            <a:ext cx="161848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586878"/>
                </a:solidFill>
                <a:latin typeface="Arial"/>
              </a:rPr>
              <a:t>Insert measured flow and volume plots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586878"/>
                </a:solidFill>
                <a:latin typeface="Arial"/>
              </a:rPr>
              <a:t>Report: VT error · flow RMSE · repeatability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" y="40178736"/>
            <a:ext cx="1874520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5. Reserved for measured hardware results.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796760" y="34253424"/>
            <a:ext cx="973836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4.2 Future work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9842480" y="34902648"/>
            <a:ext cx="9619488" cy="1325880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061936" y="35158680"/>
            <a:ext cx="65836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7A7"/>
                </a:solidFill>
                <a:latin typeface="Arial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884896" y="35085528"/>
            <a:ext cx="827532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Integrate the biomimetic lung model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9842480" y="36539424"/>
            <a:ext cx="9619488" cy="1325880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061936" y="36795456"/>
            <a:ext cx="65836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F86C6"/>
                </a:solidFill>
                <a:latin typeface="Arial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884896" y="36722304"/>
            <a:ext cx="827532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Re-identify the model and delay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9842480" y="38176200"/>
            <a:ext cx="9619488" cy="1325880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061936" y="38432232"/>
            <a:ext cx="65836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7A7"/>
                </a:solidFill>
                <a:latin typeface="Arial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884896" y="38359080"/>
            <a:ext cx="827532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Validate bilateral repeatability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860768" y="39758112"/>
            <a:ext cx="9582912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Extend the verified branch to independent left/right control across the required breathing range.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0040" y="42364152"/>
            <a:ext cx="2958084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86878"/>
                </a:solidFill>
                <a:latin typeface="Arial"/>
              </a:rPr>
              <a:t>Industry collaborator: 4DMedical | Background: project scope deck, 19 March 2026 | Control: current single-lung system | Experimental results: pending | Bench research prototype.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
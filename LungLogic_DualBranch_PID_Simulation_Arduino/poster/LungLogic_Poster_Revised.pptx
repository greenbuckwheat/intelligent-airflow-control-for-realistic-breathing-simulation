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2c735cae04c49b5" Type="http://schemas.openxmlformats.org/package/2006/relationships/metadata/core-properties" Target="docProps/core.xml"/><Relationship Id="Rc7ac30d925ea4a44" Type="http://schemas.openxmlformats.org/officeDocument/2006/relationships/officeDocument" Target="ppt/presentation.xml"/><Relationship Id="Rfcc855659fd04fc5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59351437664270"/>
  </p:sldMasterIdLst>
  <p:notesMasterIdLst>
    <p:notesMasterId xmlns:r="http://schemas.openxmlformats.org/officeDocument/2006/relationships" r:id="R1034ddc00aa74435"/>
  </p:notesMasterIdLst>
  <p:sldIdLst>
    <p:sldId xmlns:r="http://schemas.openxmlformats.org/officeDocument/2006/relationships" id="256" r:id="Rda9ba9b91e0042a8"/>
  </p:sldIdLst>
  <p:sldSz cx="30276000" cy="4280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034ddc00aa74435" Type="http://schemas.openxmlformats.org/officeDocument/2006/relationships/notesMaster" Target="notesMasters/notesMaster1.xml"/><Relationship Id="R7059351437664270" Type="http://schemas.openxmlformats.org/officeDocument/2006/relationships/slideMaster" Target="slideMasters/slideMaster1.xml"/><Relationship Id="R747154e1de5a47c6" Type="http://schemas.openxmlformats.org/officeDocument/2006/relationships/theme" Target="theme/theme1.xml"/><Relationship Id="Rabfe120992b749af" Type="http://schemas.openxmlformats.org/officeDocument/2006/relationships/presProps" Target="presProps.xml"/><Relationship Id="Rda9ba9b91e0042a8" Type="http://schemas.openxmlformats.org/officeDocument/2006/relationships/slide" Target="slides/slide1.xml"/><Relationship Id="Recf7cdb2d3ee4d8f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61b903c49c904fbb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79d04014a8a4833" Type="http://schemas.openxmlformats.org/officeDocument/2006/relationships/notesMaster" Target="../notesMasters/notesMaster1.xml"/><Relationship Id="R981bfd0a398a42d6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revised 23-09-Presentation_Integrated_Control_UI_Numbered (1)(1).pptx; project scope; supplied pneumatic schematic. STM32 replaces Arduino at the team's latest instruction. Original UI screenshots and PCB assembly photo are embedded. Prototype photo and PC-STM32-PCB connection photo await final images. No measured or simulated performance numbers have been invented.</a:t>
            </a:r>
          </a:p>
          <a:p xmlns:a="http://schemas.openxmlformats.org/drawingml/2006/main">
            <a:r>
              <a:t>CONTROL MODEL: the displayed phase-dependent first-order volume equation is a working approximation, not a claimed identified model. V_eq maps valve opening to equilibrium lung volume. The flow conversion assumes the model's equivalent volume basis and time in seconds. Calibrate inflation/deflation time constants, valve mapping and delays using actual measurements.</a:t>
            </a:r>
          </a:p>
          <a:p xmlns:a="http://schemas.openxmlformats.org/drawingml/2006/main">
            <a:r>
              <a:t>SIMULATION WORDING (editable): Simulation compares target and measured-model flow/volume across repeated breaths, with and without Smith prediction. Report tidal-volume error, breath-to-breath variation, tracking error and valve saturation. Insert only verified values and specify respiratory settings, gains and delay assumptions.</a:t>
            </a:r>
          </a:p>
          <a:p xmlns:a="http://schemas.openxmlformats.org/drawingml/2006/main">
            <a:r>
              <a:t>HARDWARE WORDING (replace after tests): Hardware tests compared SFM3300 flow and integrated tidal volume with their targets over [N] breaths at [RR] bpm and I:E [ratio]. Tidal-volume error was [value], cycle variation [value], and tracking error [value]. State pneumatic load, sensor calibration and any observed saturation. Replace Fig. 4 with measured traces and label it Experiment.</a:t>
            </a:r>
          </a:p>
          <a:p xmlns:a="http://schemas.openxmlformats.org/drawingml/2006/main">
            <a:r>
              <a:t>CAPTION ALTERNATIVES: Fig. 4. Simulated flow and tidal-volume tracking at [settings], comparing baseline PI and delay-compensated PI. OR Fig. 4. Experimental flow and tidal-volume tracking over [N] respiratory cycles at [settings].</a:t>
            </a:r>
          </a:p>
          <a:p xmlns:a="http://schemas.openxmlformats.org/drawingml/2006/main">
            <a:r>
              <a:t>IMAGE RESOLUTION: supplied schematic and UI screenshots are review assets and do not reach 300 dpi at their current poster sizes. Replace with vector schematic and higher-resolution screenshots before printing. The board image reaches approximately 300 dpi at the selected width. Photo placeholders should use original high-resolution camera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5f90dfa774634878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9eb2b3cc4e54617" Type="http://schemas.openxmlformats.org/officeDocument/2006/relationships/slideLayout" Target="../slideLayouts/slideLayout1.xml"/><Relationship Id="R75af9458c0c24095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eb2b3cc4e546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3696944044844e97" Type="http://schemas.openxmlformats.org/officeDocument/2006/relationships/image" Target="../media/image.png"/><Relationship Id="R3bc3ef7d4a4d4ad1" Type="http://schemas.openxmlformats.org/officeDocument/2006/relationships/image" Target="../media/image3.png"/><Relationship Id="R401e512c29204344" Type="http://schemas.openxmlformats.org/officeDocument/2006/relationships/notesSlide" Target="../notesSlides/notesSlide1.xml"/><Relationship Id="R632b125b5dbe43ef" Type="http://schemas.openxmlformats.org/officeDocument/2006/relationships/image" Target="../media/image4.png"/><Relationship Id="R6e1d63bfda1c46dc" Type="http://schemas.openxmlformats.org/officeDocument/2006/relationships/image" Target="../media/image2.png"/><Relationship Id="R8770e66cdb6841e9" Type="http://schemas.openxmlformats.org/officeDocument/2006/relationships/slideLayout" Target="../slideLayouts/slideLayout1.xml"/><Relationship Id="rId7" Type="http://schemas.openxmlformats.org/officeDocument/2006/relationships/image" Target="../media/image1.png"/><Relationship Id="rId8" Type="http://schemas.openxmlformats.org/officeDocument/2006/relationships/image" Target="../media/image5.jp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2" name="poster-0">
            <a:extLst xmlns:a="http://schemas.openxmlformats.org/drawingml/2006/main">
              <a:ext uri="{FF2B5EF4-FFF2-40B4-BE49-F238E27FC236}">
                <a16:creationId xmlns:a16="http://schemas.microsoft.com/office/drawing/2014/main" id="{D8212C5A-7B11-4635-BEA1-30EFA143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276000" cy="43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643"/>
          </a:solidFill>
          <a:ln xmlns:a="http://schemas.openxmlformats.org/drawingml/2006/main" w="0">
            <a:noFill/>
          </a:ln>
        </p:spPr>
      </p:sp>
      <p:sp>
        <p:nvSpPr>
          <p:cNvPr id="2" name="poster-1">
            <a:extLst xmlns:a="http://schemas.openxmlformats.org/drawingml/2006/main">
              <a:ext uri="{FF2B5EF4-FFF2-40B4-BE49-F238E27FC236}">
                <a16:creationId xmlns:a16="http://schemas.microsoft.com/office/drawing/2014/main" id="{6BC53E73-BF73-4B0A-8B63-45D2E96C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288000"/>
            <a:ext cx="29772000" cy="12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00" b="1" i="0">
                <a:solidFill>
                  <a:srgbClr val="FFFFFF"/>
                </a:solidFill>
                <a:latin typeface="Arial"/>
              </a:rPr>
              <a:t>LungLogic: Model-Based Airflow Control</a:t>
            </a:r>
          </a:p>
        </p:txBody>
      </p:sp>
      <p:sp>
        <p:nvSpPr>
          <p:cNvPr id="3" name="poster-2">
            <a:extLst xmlns:a="http://schemas.openxmlformats.org/drawingml/2006/main">
              <a:ext uri="{FF2B5EF4-FFF2-40B4-BE49-F238E27FC236}">
                <a16:creationId xmlns:a16="http://schemas.microsoft.com/office/drawing/2014/main" id="{AA508D80-33E1-4E95-B774-DE9F37A1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1476000"/>
            <a:ext cx="29772000" cy="12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8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800" b="1" i="0">
                <a:solidFill>
                  <a:srgbClr val="FFFFFF"/>
                </a:solidFill>
                <a:latin typeface="Arial"/>
              </a:rPr>
              <a:t>with Measured-Delay Compensation and Auto PID</a:t>
            </a:r>
          </a:p>
        </p:txBody>
      </p:sp>
      <p:sp>
        <p:nvSpPr>
          <p:cNvPr id="4" name="poster-3">
            <a:extLst xmlns:a="http://schemas.openxmlformats.org/drawingml/2006/main">
              <a:ext uri="{FF2B5EF4-FFF2-40B4-BE49-F238E27FC236}">
                <a16:creationId xmlns:a16="http://schemas.microsoft.com/office/drawing/2014/main" id="{9FE87FF0-6881-4484-AD8D-D80DD854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3276000"/>
            <a:ext cx="29772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6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0" i="0">
                <a:solidFill>
                  <a:srgbClr val="FFFFFF"/>
                </a:solidFill>
                <a:latin typeface="Arial"/>
              </a:rPr>
              <a:t>ME-12-TYIN-007 | Yuqiao Li, Chun Yin Ku (John), Jiaquan Zhong | Supervisors: Jonathan Eden, Ying Tan | Mechatronics Engineering</a:t>
            </a:r>
          </a:p>
        </p:txBody>
      </p:sp>
      <p:sp>
        <p:nvSpPr>
          <p:cNvPr id="5" name="poster-4">
            <a:extLst xmlns:a="http://schemas.openxmlformats.org/drawingml/2006/main">
              <a:ext uri="{FF2B5EF4-FFF2-40B4-BE49-F238E27FC236}">
                <a16:creationId xmlns:a16="http://schemas.microsoft.com/office/drawing/2014/main" id="{35A04758-75FB-4F43-A810-B42050EA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4680000"/>
            <a:ext cx="14688000" cy="174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27B9F"/>
            </a:solidFill>
          </a:ln>
        </p:spPr>
      </p:sp>
      <p:sp>
        <p:nvSpPr>
          <p:cNvPr id="6" name="poster-5">
            <a:extLst xmlns:a="http://schemas.openxmlformats.org/drawingml/2006/main">
              <a:ext uri="{FF2B5EF4-FFF2-40B4-BE49-F238E27FC236}">
                <a16:creationId xmlns:a16="http://schemas.microsoft.com/office/drawing/2014/main" id="{930050F2-D764-4EC5-AD53-98F9895C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4680000"/>
            <a:ext cx="14688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643"/>
          </a:solidFill>
          <a:ln xmlns:a="http://schemas.openxmlformats.org/drawingml/2006/main" w="0">
            <a:noFill/>
          </a:ln>
        </p:spPr>
      </p:sp>
      <p:sp>
        <p:nvSpPr>
          <p:cNvPr id="7" name="poster-6">
            <a:extLst xmlns:a="http://schemas.openxmlformats.org/drawingml/2006/main">
              <a:ext uri="{FF2B5EF4-FFF2-40B4-BE49-F238E27FC236}">
                <a16:creationId xmlns:a16="http://schemas.microsoft.com/office/drawing/2014/main" id="{25252F26-D77E-4BB2-86BA-C5D0ACEE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4806000"/>
            <a:ext cx="14328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 i="0">
                <a:solidFill>
                  <a:srgbClr val="FFFFFF"/>
                </a:solidFill>
                <a:latin typeface="Arial"/>
              </a:rPr>
              <a:t>1. Pneumatic System &amp; Requirements</a:t>
            </a:r>
          </a:p>
        </p:txBody>
      </p:sp>
      <p:sp>
        <p:nvSpPr>
          <p:cNvPr id="8" name="poster-7">
            <a:extLst xmlns:a="http://schemas.openxmlformats.org/drawingml/2006/main">
              <a:ext uri="{FF2B5EF4-FFF2-40B4-BE49-F238E27FC236}">
                <a16:creationId xmlns:a16="http://schemas.microsoft.com/office/drawing/2014/main" id="{B31E3CC8-B529-413A-8351-6E8119C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" y="5868000"/>
            <a:ext cx="14256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5"/>
          </a:solidFill>
          <a:ln xmlns:a="http://schemas.openxmlformats.org/drawingml/2006/main" w="19050">
            <a:solidFill>
              <a:srgbClr val="008C95"/>
            </a:solidFill>
          </a:ln>
        </p:spPr>
        <p:txBody>
          <a:bodyPr xmlns:a="http://schemas.openxmlformats.org/drawingml/2006/main" lIns="177800" tIns="127000" rIns="177800" bIns="1016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defRPr sz="3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C95"/>
                </a:solidFill>
                <a:latin typeface="Arial"/>
              </a:rPr>
              <a:t>OBJECTIVE  |  </a:t>
            </a:r>
            <a:r>
              <a:rPr sz="2600" b="1">
                <a:solidFill>
                  <a:srgbClr val="000643"/>
                </a:solidFill>
                <a:latin typeface="Arial"/>
              </a:rPr>
              <a:t>Reproduce a physiologic breathing pattern in one 250 mL lung branch.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586878"/>
                </a:solidFill>
                <a:latin typeface="Arial"/>
              </a:rPr>
              <a:t>Design targets combine respiratory timing, tidal volume and repeatability despite valve nonlinearity, sensor dynamics and real pneumatic delay.</a:t>
            </a:r>
          </a:p>
        </p:txBody>
      </p:sp>
      <p:graphicFrame>
        <p:nvGraphicFramePr>
          <p:cNvPr id="80" name=""/>
          <p:cNvGraphicFramePr/>
          <p:nvPr/>
        </p:nvGraphicFramePr>
        <p:xfrm>
          <a:off xmlns:a="http://schemas.openxmlformats.org/drawingml/2006/main" x="468000" y="8460000"/>
          <a:ext xmlns:a="http://schemas.openxmlformats.org/drawingml/2006/main" cx="14256000" cy="316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128000"/>
                <a:gridCol w="7128000"/>
              </a:tblGrid>
              <a:tr h="792000">
                <a:tc>
                  <a:txBody>
                    <a:bodyPr lIns="38100" tIns="76200" rIns="38100" bIns="38100"/>
                    <a:lstStyle/>
                    <a:p>
                      <a:r>
                        <a:rPr sz="3000" b="0">
                          <a:latin typeface="Arial"/>
                        </a:rPr>
                        <a:t>Respiratory 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76200" rIns="38100" bIns="38100"/>
                    <a:lstStyle/>
                    <a:p>
                      <a:r>
                        <a:rPr sz="3000" b="1">
                          <a:latin typeface="Arial"/>
                        </a:rPr>
                        <a:t>12–16 bpm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2000">
                <a:tc>
                  <a:txBody>
                    <a:bodyPr lIns="38100" tIns="76200" rIns="38100" bIns="38100"/>
                    <a:lstStyle/>
                    <a:p>
                      <a:r>
                        <a:rPr sz="3000" b="0">
                          <a:latin typeface="Arial"/>
                        </a:rPr>
                        <a:t>Tidal volume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76200" rIns="38100" bIns="38100"/>
                    <a:lstStyle/>
                    <a:p>
                      <a:r>
                        <a:rPr sz="3000" b="1">
                          <a:latin typeface="Arial"/>
                        </a:rPr>
                        <a:t>250 mL / lung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2000">
                <a:tc>
                  <a:txBody>
                    <a:bodyPr lIns="38100" tIns="76200" rIns="38100" bIns="38100"/>
                    <a:lstStyle/>
                    <a:p>
                      <a:r>
                        <a:rPr sz="3000" b="0">
                          <a:latin typeface="Arial"/>
                        </a:rPr>
                        <a:t>I:E ratio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76200" rIns="38100" bIns="38100"/>
                    <a:lstStyle/>
                    <a:p>
                      <a:r>
                        <a:rPr sz="3000" b="1">
                          <a:latin typeface="Arial"/>
                        </a:rPr>
                        <a:t>1:2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2000">
                <a:tc>
                  <a:txBody>
                    <a:bodyPr lIns="38100" tIns="76200" rIns="38100" bIns="38100"/>
                    <a:lstStyle/>
                    <a:p>
                      <a:r>
                        <a:rPr sz="3000" b="0">
                          <a:latin typeface="Arial"/>
                        </a:rPr>
                        <a:t>Repeatability 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76200" rIns="38100" bIns="38100"/>
                    <a:lstStyle/>
                    <a:p>
                      <a:r>
                        <a:rPr sz="3000" b="1">
                          <a:latin typeface="Arial"/>
                        </a:rPr>
                        <a:t>&lt; ±5%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6944044844e97"/>
          <a:stretch xmlns:a="http://schemas.openxmlformats.org/drawingml/2006/main"/>
        </p:blipFill>
        <p:spPr>
          <a:xfrm xmlns:a="http://schemas.openxmlformats.org/drawingml/2006/main">
            <a:off x="535153" y="12240000"/>
            <a:ext cx="5265695" cy="8100000"/>
          </a:xfrm>
          <a:prstGeom xmlns:a="http://schemas.openxmlformats.org/drawingml/2006/main" prst="rect">
            <a:avLst/>
          </a:prstGeom>
        </p:spPr>
      </p:pic>
      <p:sp>
        <p:nvSpPr>
          <p:cNvPr id="13" name="poster-12">
            <a:extLst xmlns:a="http://schemas.openxmlformats.org/drawingml/2006/main">
              <a:ext uri="{FF2B5EF4-FFF2-40B4-BE49-F238E27FC236}">
                <a16:creationId xmlns:a16="http://schemas.microsoft.com/office/drawing/2014/main" id="{BAA3E537-15CD-4231-A5B7-179875C9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" y="20628000"/>
            <a:ext cx="14256000" cy="129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6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1">
                <a:solidFill>
                  <a:srgbClr val="000000"/>
                </a:solidFill>
                <a:latin typeface="Arial"/>
              </a:rPr>
              <a:t>Fig. 1. Single-lung pneumatic route and six-lobe breathing phantom.</a:t>
            </a:r>
          </a:p>
        </p:txBody>
      </p:sp>
      <p:sp>
        <p:nvSpPr>
          <p:cNvPr id="14" name="poster-13">
            <a:extLst xmlns:a="http://schemas.openxmlformats.org/drawingml/2006/main">
              <a:ext uri="{FF2B5EF4-FFF2-40B4-BE49-F238E27FC236}">
                <a16:creationId xmlns:a16="http://schemas.microsoft.com/office/drawing/2014/main" id="{A3F295BC-82EB-4666-8D97-D0E419AA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000" y="4680000"/>
            <a:ext cx="14832000" cy="174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27B9F"/>
            </a:solidFill>
          </a:ln>
        </p:spPr>
      </p:sp>
      <p:sp>
        <p:nvSpPr>
          <p:cNvPr id="15" name="poster-14">
            <a:extLst xmlns:a="http://schemas.openxmlformats.org/drawingml/2006/main">
              <a:ext uri="{FF2B5EF4-FFF2-40B4-BE49-F238E27FC236}">
                <a16:creationId xmlns:a16="http://schemas.microsoft.com/office/drawing/2014/main" id="{8A8B8D80-3944-4018-864B-E04F3583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000" y="4680000"/>
            <a:ext cx="14832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643"/>
          </a:solidFill>
          <a:ln xmlns:a="http://schemas.openxmlformats.org/drawingml/2006/main" w="0">
            <a:noFill/>
          </a:ln>
        </p:spPr>
      </p:sp>
      <p:sp>
        <p:nvSpPr>
          <p:cNvPr id="16" name="poster-15">
            <a:extLst xmlns:a="http://schemas.openxmlformats.org/drawingml/2006/main">
              <a:ext uri="{FF2B5EF4-FFF2-40B4-BE49-F238E27FC236}">
                <a16:creationId xmlns:a16="http://schemas.microsoft.com/office/drawing/2014/main" id="{F8CDF491-C9ED-440B-A822-8BCE62A9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2000" y="4806000"/>
            <a:ext cx="1447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 i="0">
                <a:solidFill>
                  <a:srgbClr val="FFFFFF"/>
                </a:solidFill>
                <a:latin typeface="Arial"/>
              </a:rPr>
              <a:t>2. Embedded Hardware Architecture</a:t>
            </a:r>
          </a:p>
        </p:txBody>
      </p:sp>
      <p:sp>
        <p:nvSpPr>
          <p:cNvPr id="17" name="poster-16">
            <a:extLst xmlns:a="http://schemas.openxmlformats.org/drawingml/2006/main">
              <a:ext uri="{FF2B5EF4-FFF2-40B4-BE49-F238E27FC236}">
                <a16:creationId xmlns:a16="http://schemas.microsoft.com/office/drawing/2014/main" id="{0E8DE32E-A501-4B68-8C3E-5290C2AD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000" y="5868000"/>
            <a:ext cx="14328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5"/>
          </a:solidFill>
          <a:ln xmlns:a="http://schemas.openxmlformats.org/drawingml/2006/main" w="19050">
            <a:solidFill>
              <a:srgbClr val="008C95"/>
            </a:solidFill>
          </a:ln>
        </p:spPr>
        <p:txBody>
          <a:bodyPr xmlns:a="http://schemas.openxmlformats.org/drawingml/2006/main" lIns="177800" tIns="127000" rIns="177800" bIns="1016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defRPr sz="3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C95"/>
                </a:solidFill>
                <a:latin typeface="Arial"/>
              </a:rPr>
              <a:t>OBJECTIVE  |  </a:t>
            </a:r>
            <a:r>
              <a:rPr sz="2600" b="1">
                <a:solidFill>
                  <a:srgbClr val="000643"/>
                </a:solidFill>
                <a:latin typeface="Arial"/>
              </a:rPr>
              <a:t>Connect software commands to safe, deterministic pneumatic actuation.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>
                <a:solidFill>
                  <a:srgbClr val="586878"/>
                </a:solidFill>
                <a:latin typeface="Arial"/>
              </a:rPr>
              <a:t>The host configures and logs experiments; the embedded controller executes the 100 Hz state machine and flow loop through a protected 24 V bridge.</a:t>
            </a:r>
          </a:p>
        </p:txBody>
      </p:sp>
      <p:sp>
        <p:nvSpPr>
          <p:cNvPr id="18" name="poster-17">
            <a:extLst xmlns:a="http://schemas.openxmlformats.org/drawingml/2006/main">
              <a:ext uri="{FF2B5EF4-FFF2-40B4-BE49-F238E27FC236}">
                <a16:creationId xmlns:a16="http://schemas.microsoft.com/office/drawing/2014/main" id="{6CC9550D-D001-4010-9C29-3C930472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2000" y="8280000"/>
            <a:ext cx="6840000" cy="11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643"/>
            </a:solidFill>
          </a:ln>
        </p:spPr>
      </p:sp>
      <p:sp>
        <p:nvSpPr>
          <p:cNvPr id="19" name="poster-18">
            <a:extLst xmlns:a="http://schemas.openxmlformats.org/drawingml/2006/main">
              <a:ext uri="{FF2B5EF4-FFF2-40B4-BE49-F238E27FC236}">
                <a16:creationId xmlns:a16="http://schemas.microsoft.com/office/drawing/2014/main" id="{85D85F69-CE7D-4EB6-B83B-B5C1CF1D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6000" y="8334000"/>
            <a:ext cx="6552000" cy="4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</a:rPr>
              <a:t>PC / Python GUI</a:t>
            </a:r>
          </a:p>
        </p:txBody>
      </p:sp>
      <p:sp>
        <p:nvSpPr>
          <p:cNvPr id="20" name="poster-19">
            <a:extLst xmlns:a="http://schemas.openxmlformats.org/drawingml/2006/main">
              <a:ext uri="{FF2B5EF4-FFF2-40B4-BE49-F238E27FC236}">
                <a16:creationId xmlns:a16="http://schemas.microsoft.com/office/drawing/2014/main" id="{7FA426B4-054F-4F59-A9F2-5EA6CC78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6000" y="8856000"/>
            <a:ext cx="6552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000000"/>
                </a:solidFill>
                <a:latin typeface="Arial"/>
              </a:rPr>
              <a:t>Setpoints, telemetry, Auto PID</a:t>
            </a:r>
          </a:p>
        </p:txBody>
      </p:sp>
      <p:sp>
        <p:nvSpPr>
          <p:cNvPr id="21" name="poster-20">
            <a:extLst xmlns:a="http://schemas.openxmlformats.org/drawingml/2006/main">
              <a:ext uri="{FF2B5EF4-FFF2-40B4-BE49-F238E27FC236}">
                <a16:creationId xmlns:a16="http://schemas.microsoft.com/office/drawing/2014/main" id="{7F775534-6BE9-4B5C-B913-86AF7C52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2000" y="9864000"/>
            <a:ext cx="6840000" cy="11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643"/>
            </a:solidFill>
          </a:ln>
        </p:spPr>
      </p:sp>
      <p:sp>
        <p:nvSpPr>
          <p:cNvPr id="22" name="poster-21">
            <a:extLst xmlns:a="http://schemas.openxmlformats.org/drawingml/2006/main">
              <a:ext uri="{FF2B5EF4-FFF2-40B4-BE49-F238E27FC236}">
                <a16:creationId xmlns:a16="http://schemas.microsoft.com/office/drawing/2014/main" id="{D686440D-C169-4D01-BF5C-7C61BC8A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6000" y="9918000"/>
            <a:ext cx="6552000" cy="4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</a:rPr>
              <a:t>Embedded controller</a:t>
            </a:r>
          </a:p>
        </p:txBody>
      </p:sp>
      <p:sp>
        <p:nvSpPr>
          <p:cNvPr id="23" name="poster-22">
            <a:extLst xmlns:a="http://schemas.openxmlformats.org/drawingml/2006/main">
              <a:ext uri="{FF2B5EF4-FFF2-40B4-BE49-F238E27FC236}">
                <a16:creationId xmlns:a16="http://schemas.microsoft.com/office/drawing/2014/main" id="{58EEF49F-84F7-4EA3-BD72-F5E653E1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6000" y="10440000"/>
            <a:ext cx="6552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000000"/>
                </a:solidFill>
                <a:latin typeface="Arial"/>
              </a:rPr>
              <a:t>State machine and flow feedback</a:t>
            </a:r>
          </a:p>
        </p:txBody>
      </p:sp>
      <p:sp>
        <p:nvSpPr>
          <p:cNvPr id="24" name="poster-23">
            <a:extLst xmlns:a="http://schemas.openxmlformats.org/drawingml/2006/main">
              <a:ext uri="{FF2B5EF4-FFF2-40B4-BE49-F238E27FC236}">
                <a16:creationId xmlns:a16="http://schemas.microsoft.com/office/drawing/2014/main" id="{A2E054DE-0F79-4849-9DFA-32DA3B5F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52000" y="11448000"/>
            <a:ext cx="6840000" cy="11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643"/>
            </a:solidFill>
          </a:ln>
        </p:spPr>
      </p:sp>
      <p:sp>
        <p:nvSpPr>
          <p:cNvPr id="25" name="poster-24">
            <a:extLst xmlns:a="http://schemas.openxmlformats.org/drawingml/2006/main">
              <a:ext uri="{FF2B5EF4-FFF2-40B4-BE49-F238E27FC236}">
                <a16:creationId xmlns:a16="http://schemas.microsoft.com/office/drawing/2014/main" id="{4089A7B2-178F-4696-B8D1-C93F2E8F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6000" y="11502000"/>
            <a:ext cx="6552000" cy="4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</a:rPr>
              <a:t>24 V bridge PCB</a:t>
            </a:r>
          </a:p>
        </p:txBody>
      </p:sp>
      <p:sp>
        <p:nvSpPr>
          <p:cNvPr id="26" name="poster-25">
            <a:extLst xmlns:a="http://schemas.openxmlformats.org/drawingml/2006/main">
              <a:ext uri="{FF2B5EF4-FFF2-40B4-BE49-F238E27FC236}">
                <a16:creationId xmlns:a16="http://schemas.microsoft.com/office/drawing/2014/main" id="{A16877F3-A81A-49F6-A82C-C2F643F3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96000" y="12024000"/>
            <a:ext cx="6552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000000"/>
                </a:solidFill>
                <a:latin typeface="Arial"/>
              </a:rPr>
              <a:t>Power and protected interfaces</a:t>
            </a:r>
          </a:p>
        </p:txBody>
      </p:sp>
      <p:sp>
        <p:nvSpPr>
          <p:cNvPr id="27" name="poster-26">
            <a:extLst xmlns:a="http://schemas.openxmlformats.org/drawingml/2006/main">
              <a:ext uri="{FF2B5EF4-FFF2-40B4-BE49-F238E27FC236}">
                <a16:creationId xmlns:a16="http://schemas.microsoft.com/office/drawing/2014/main" id="{4CFD9B9C-1E6D-45A5-B7AB-0387B1EE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2000" y="13464000"/>
            <a:ext cx="64800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643"/>
            </a:solidFill>
          </a:ln>
        </p:spPr>
      </p:sp>
      <p:sp>
        <p:nvSpPr>
          <p:cNvPr id="28" name="poster-27">
            <a:extLst xmlns:a="http://schemas.openxmlformats.org/drawingml/2006/main">
              <a:ext uri="{FF2B5EF4-FFF2-40B4-BE49-F238E27FC236}">
                <a16:creationId xmlns:a16="http://schemas.microsoft.com/office/drawing/2014/main" id="{43E60881-5C1D-4DB8-B04C-7664CA57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000" y="13518000"/>
            <a:ext cx="6192000" cy="4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</a:rPr>
              <a:t>Valves</a:t>
            </a:r>
          </a:p>
        </p:txBody>
      </p:sp>
      <p:sp>
        <p:nvSpPr>
          <p:cNvPr id="29" name="poster-28">
            <a:extLst xmlns:a="http://schemas.openxmlformats.org/drawingml/2006/main">
              <a:ext uri="{FF2B5EF4-FFF2-40B4-BE49-F238E27FC236}">
                <a16:creationId xmlns:a16="http://schemas.microsoft.com/office/drawing/2014/main" id="{5E94C70C-26A9-4B60-844B-8C650D2C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6000" y="14040000"/>
            <a:ext cx="6192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000000"/>
                </a:solidFill>
                <a:latin typeface="Arial"/>
              </a:rPr>
              <a:t>ATM, vacuum and PPV</a:t>
            </a:r>
          </a:p>
        </p:txBody>
      </p:sp>
      <p:sp>
        <p:nvSpPr>
          <p:cNvPr id="30" name="poster-29">
            <a:extLst xmlns:a="http://schemas.openxmlformats.org/drawingml/2006/main">
              <a:ext uri="{FF2B5EF4-FFF2-40B4-BE49-F238E27FC236}">
                <a16:creationId xmlns:a16="http://schemas.microsoft.com/office/drawing/2014/main" id="{25D483D8-AAC1-443F-ADC4-74FFFA6B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0000" y="13464000"/>
            <a:ext cx="6480000" cy="12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0643"/>
            </a:solidFill>
          </a:ln>
        </p:spPr>
      </p:sp>
      <p:sp>
        <p:nvSpPr>
          <p:cNvPr id="31" name="poster-30">
            <a:extLst xmlns:a="http://schemas.openxmlformats.org/drawingml/2006/main">
              <a:ext uri="{FF2B5EF4-FFF2-40B4-BE49-F238E27FC236}">
                <a16:creationId xmlns:a16="http://schemas.microsoft.com/office/drawing/2014/main" id="{546B85D4-F99D-4B6C-BC46-2C811D24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4000" y="13518000"/>
            <a:ext cx="6192000" cy="4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</a:rPr>
              <a:t>Sensors</a:t>
            </a:r>
          </a:p>
        </p:txBody>
      </p:sp>
      <p:sp>
        <p:nvSpPr>
          <p:cNvPr id="32" name="poster-31">
            <a:extLst xmlns:a="http://schemas.openxmlformats.org/drawingml/2006/main">
              <a:ext uri="{FF2B5EF4-FFF2-40B4-BE49-F238E27FC236}">
                <a16:creationId xmlns:a16="http://schemas.microsoft.com/office/drawing/2014/main" id="{2A53E777-942C-4C5B-8A4A-7B243DFE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4000" y="14040000"/>
            <a:ext cx="6192000" cy="57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00" b="0" i="0">
                <a:solidFill>
                  <a:srgbClr val="000000"/>
                </a:solidFill>
                <a:latin typeface="Arial"/>
              </a:rPr>
              <a:t>Flow feedback and volume estimate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44234F-F417-405E-B6BF-A3A7CBFD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000" y="9396000"/>
            <a:ext cx="0" cy="46800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000643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028954C-1B04-4815-A55A-1EF22A02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000" y="10980000"/>
            <a:ext cx="0" cy="46800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00064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953AD7-7643-426D-AE0D-48C72AAE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000" y="12564000"/>
            <a:ext cx="0" cy="43200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000643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621FD9-0DF8-4AA1-AC49-4DC6070F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000" y="12996000"/>
            <a:ext cx="7560000" cy="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00064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A35919-293B-4F27-8B26-551E11654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2000" y="12996000"/>
            <a:ext cx="0" cy="46800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000643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5BB73A-7B5D-455E-8997-2E3264FB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2000" y="12996000"/>
            <a:ext cx="0" cy="468000"/>
          </a:xfrm>
          <a:prstGeom xmlns:a="http://schemas.openxmlformats.org/drawingml/2006/main" prst="line">
            <a:avLst/>
          </a:prstGeom>
          <a:ln xmlns:a="http://schemas.openxmlformats.org/drawingml/2006/main" w="17145">
            <a:solidFill>
              <a:srgbClr val="000643"/>
            </a:solidFill>
          </a:ln>
        </p:spPr>
      </p:sp>
      <p:sp>
        <p:nvSpPr>
          <p:cNvPr id="39" name="poster-38">
            <a:extLst xmlns:a="http://schemas.openxmlformats.org/drawingml/2006/main">
              <a:ext uri="{FF2B5EF4-FFF2-40B4-BE49-F238E27FC236}">
                <a16:creationId xmlns:a16="http://schemas.microsoft.com/office/drawing/2014/main" id="{18ED8291-430A-4E03-8459-3BEA410C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0" y="9486000"/>
            <a:ext cx="61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00" b="0" i="0">
                <a:solidFill>
                  <a:srgbClr val="000000"/>
                </a:solidFill>
                <a:latin typeface="Arial"/>
              </a:rPr>
              <a:t>Configuration / telemetry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d63bfda1c46dc"/>
          <a:stretch xmlns:a="http://schemas.openxmlformats.org/drawingml/2006/main"/>
        </p:blipFill>
        <p:spPr>
          <a:xfrm xmlns:a="http://schemas.openxmlformats.org/drawingml/2006/main">
            <a:off x="15553125" y="15480000"/>
            <a:ext cx="3057750" cy="5436000"/>
          </a:xfrm>
          <a:prstGeom xmlns:a="http://schemas.openxmlformats.org/drawingml/2006/main" prst="rect">
            <a:avLst/>
          </a:prstGeom>
        </p:spPr>
      </p:pic>
      <p:sp>
        <p:nvSpPr>
          <p:cNvPr id="43" name="poster-42">
            <a:extLst xmlns:a="http://schemas.openxmlformats.org/drawingml/2006/main">
              <a:ext uri="{FF2B5EF4-FFF2-40B4-BE49-F238E27FC236}">
                <a16:creationId xmlns:a16="http://schemas.microsoft.com/office/drawing/2014/main" id="{02931079-76B1-4841-8BD6-2B9EE4E5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000" y="20880000"/>
            <a:ext cx="14328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6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1">
                <a:solidFill>
                  <a:srgbClr val="000000"/>
                </a:solidFill>
                <a:latin typeface="Arial"/>
              </a:rPr>
              <a:t>Fig. 2. Host–controller–PCB architecture and pneumatic control case.</a:t>
            </a:r>
          </a:p>
        </p:txBody>
      </p:sp>
      <p:sp>
        <p:nvSpPr>
          <p:cNvPr id="44" name="poster-43">
            <a:extLst xmlns:a="http://schemas.openxmlformats.org/drawingml/2006/main">
              <a:ext uri="{FF2B5EF4-FFF2-40B4-BE49-F238E27FC236}">
                <a16:creationId xmlns:a16="http://schemas.microsoft.com/office/drawing/2014/main" id="{094AE24A-0C6B-40F2-BE0B-E45760D6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22680000"/>
            <a:ext cx="14688000" cy="19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27B9F"/>
            </a:solidFill>
          </a:ln>
        </p:spPr>
      </p:sp>
      <p:sp>
        <p:nvSpPr>
          <p:cNvPr id="45" name="poster-44">
            <a:extLst xmlns:a="http://schemas.openxmlformats.org/drawingml/2006/main">
              <a:ext uri="{FF2B5EF4-FFF2-40B4-BE49-F238E27FC236}">
                <a16:creationId xmlns:a16="http://schemas.microsoft.com/office/drawing/2014/main" id="{5559277C-B5B9-4A80-99FB-2DCDB080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00" y="22680000"/>
            <a:ext cx="14688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643"/>
          </a:solidFill>
          <a:ln xmlns:a="http://schemas.openxmlformats.org/drawingml/2006/main" w="0">
            <a:noFill/>
          </a:ln>
        </p:spPr>
      </p:sp>
      <p:sp>
        <p:nvSpPr>
          <p:cNvPr id="46" name="poster-45">
            <a:extLst xmlns:a="http://schemas.openxmlformats.org/drawingml/2006/main">
              <a:ext uri="{FF2B5EF4-FFF2-40B4-BE49-F238E27FC236}">
                <a16:creationId xmlns:a16="http://schemas.microsoft.com/office/drawing/2014/main" id="{7C73C5C7-2B75-4846-B908-D252B05F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000" y="22806000"/>
            <a:ext cx="14328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 i="0">
                <a:solidFill>
                  <a:srgbClr val="FFFFFF"/>
                </a:solidFill>
                <a:latin typeface="Arial"/>
              </a:rPr>
              <a:t>3. Control Software &amp; Workflow</a:t>
            </a:r>
          </a:p>
        </p:txBody>
      </p:sp>
      <p:sp>
        <p:nvSpPr>
          <p:cNvPr id="47" name="poster-46">
            <a:extLst xmlns:a="http://schemas.openxmlformats.org/drawingml/2006/main">
              <a:ext uri="{FF2B5EF4-FFF2-40B4-BE49-F238E27FC236}">
                <a16:creationId xmlns:a16="http://schemas.microsoft.com/office/drawing/2014/main" id="{A766F2B3-D8F5-4F93-A2EB-B5CD2D47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" y="23868000"/>
            <a:ext cx="14256000" cy="16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5"/>
          </a:solidFill>
          <a:ln xmlns:a="http://schemas.openxmlformats.org/drawingml/2006/main" w="19050">
            <a:solidFill>
              <a:srgbClr val="008C95"/>
            </a:solidFill>
          </a:ln>
        </p:spPr>
        <p:txBody>
          <a:bodyPr xmlns:a="http://schemas.openxmlformats.org/drawingml/2006/main" lIns="177800" tIns="127000" rIns="177800" bIns="1016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defRPr sz="3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C95"/>
                </a:solidFill>
                <a:latin typeface="Arial"/>
              </a:rPr>
              <a:t>OBJECTIVE  |  </a:t>
            </a:r>
            <a:r>
              <a:rPr sz="2400" b="1">
                <a:solidFill>
                  <a:srgbClr val="000643"/>
                </a:solidFill>
                <a:latin typeface="Arial"/>
              </a:rPr>
              <a:t>Provide a visible, adjustable tool for operation, tuning and traceable experiments.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586878"/>
                </a:solidFill>
                <a:latin typeface="Arial"/>
              </a:rPr>
              <a:t>User Mode simplifies routine runs; Developer Mode exposes PID, model, measured-delay and calibration controls.</a:t>
            </a:r>
          </a:p>
        </p:txBody>
      </p:sp>
      <p:sp>
        <p:nvSpPr>
          <p:cNvPr id="48" name="poster-47">
            <a:extLst xmlns:a="http://schemas.openxmlformats.org/drawingml/2006/main">
              <a:ext uri="{FF2B5EF4-FFF2-40B4-BE49-F238E27FC236}">
                <a16:creationId xmlns:a16="http://schemas.microsoft.com/office/drawing/2014/main" id="{F6A0E7E7-62B4-4C92-B17B-96CA8146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" y="25920000"/>
            <a:ext cx="6768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000000"/>
                </a:solidFill>
                <a:latin typeface="Arial"/>
              </a:rPr>
              <a:t>User Mode</a:t>
            </a:r>
          </a:p>
        </p:txBody>
      </p:sp>
      <p:sp>
        <p:nvSpPr>
          <p:cNvPr id="49" name="poster-48">
            <a:extLst xmlns:a="http://schemas.openxmlformats.org/drawingml/2006/main">
              <a:ext uri="{FF2B5EF4-FFF2-40B4-BE49-F238E27FC236}">
                <a16:creationId xmlns:a16="http://schemas.microsoft.com/office/drawing/2014/main" id="{5C34D4AB-FD50-4A87-B155-92A7C140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000" y="25920000"/>
            <a:ext cx="70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00" b="1" i="0">
                <a:solidFill>
                  <a:srgbClr val="000000"/>
                </a:solidFill>
                <a:latin typeface="Arial"/>
              </a:rPr>
              <a:t>Developer Mode</a:t>
            </a:r>
          </a:p>
        </p:txBody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3ef7d4a4d4ad1"/>
          <a:stretch xmlns:a="http://schemas.openxmlformats.org/drawingml/2006/main"/>
        </p:blipFill>
        <p:spPr>
          <a:xfrm xmlns:a="http://schemas.openxmlformats.org/drawingml/2006/main">
            <a:off x="468000" y="26649575"/>
            <a:ext cx="6876000" cy="4372850"/>
          </a:xfrm>
          <a:prstGeom xmlns:a="http://schemas.openxmlformats.org/drawingml/2006/main" prst="rect">
            <a:avLst/>
          </a:prstGeom>
        </p:spPr>
      </p:pic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2b125b5dbe43ef"/>
          <a:stretch xmlns:a="http://schemas.openxmlformats.org/drawingml/2006/main"/>
        </p:blipFill>
        <p:spPr>
          <a:xfrm xmlns:a="http://schemas.openxmlformats.org/drawingml/2006/main">
            <a:off x="7716167" y="26640000"/>
            <a:ext cx="6995667" cy="4464000"/>
          </a:xfrm>
          <a:prstGeom xmlns:a="http://schemas.openxmlformats.org/drawingml/2006/main" prst="rect">
            <a:avLst/>
          </a:prstGeom>
        </p:spPr>
      </p:pic>
      <p:sp>
        <p:nvSpPr>
          <p:cNvPr id="52" name="poster-51">
            <a:extLst xmlns:a="http://schemas.openxmlformats.org/drawingml/2006/main">
              <a:ext uri="{FF2B5EF4-FFF2-40B4-BE49-F238E27FC236}">
                <a16:creationId xmlns:a16="http://schemas.microsoft.com/office/drawing/2014/main" id="{EF815412-2E34-4DC4-844D-12D7324C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" y="31428000"/>
            <a:ext cx="14256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6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0" i="1">
                <a:solidFill>
                  <a:srgbClr val="000000"/>
                </a:solidFill>
                <a:latin typeface="Arial"/>
              </a:rPr>
              <a:t>Fig. 3. Telemetry-driven dynamic model and protected developer controls.</a:t>
            </a:r>
          </a:p>
        </p:txBody>
      </p:sp>
      <p:graphicFrame>
        <p:nvGraphicFramePr>
          <p:cNvPr id="124" name=""/>
          <p:cNvGraphicFramePr/>
          <p:nvPr/>
        </p:nvGraphicFramePr>
        <p:xfrm>
          <a:off xmlns:a="http://schemas.openxmlformats.org/drawingml/2006/main" x="468000" y="32760000"/>
          <a:ext xmlns:a="http://schemas.openxmlformats.org/drawingml/2006/main" cx="14256000" cy="396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7128000"/>
                <a:gridCol w="7128000"/>
              </a:tblGrid>
              <a:tr h="792000">
                <a:tc>
                  <a:txBody>
                    <a:bodyPr lIns="38100" tIns="76200" rIns="38100" bIns="38100"/>
                    <a:lstStyle/>
                    <a:p>
                      <a:r>
                        <a:rPr sz="2800" b="0">
                          <a:latin typeface="Arial"/>
                        </a:rPr>
                        <a:t>Breathing setpoints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76200" rIns="38100" bIns="38100"/>
                    <a:lstStyle/>
                    <a:p>
                      <a:r>
                        <a:rPr sz="2800" b="1">
                          <a:latin typeface="Arial"/>
                        </a:rPr>
                        <a:t>Routine experiment setup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2000">
                <a:tc>
                  <a:txBody>
                    <a:bodyPr lIns="38100" tIns="76200" rIns="38100" bIns="38100"/>
                    <a:lstStyle/>
                    <a:p>
                      <a:r>
                        <a:rPr sz="2800" b="0">
                          <a:latin typeface="Arial"/>
                        </a:rPr>
                        <a:t>Dynamic 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76200" rIns="38100" bIns="38100"/>
                    <a:lstStyle/>
                    <a:p>
                      <a:r>
                        <a:rPr sz="2800" b="1">
                          <a:latin typeface="Arial"/>
                        </a:rPr>
                        <a:t>Live telemetry visualisation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2000">
                <a:tc>
                  <a:txBody>
                    <a:bodyPr lIns="38100" tIns="76200" rIns="38100" bIns="38100"/>
                    <a:lstStyle/>
                    <a:p>
                      <a:r>
                        <a:rPr sz="2800" b="0">
                          <a:latin typeface="Arial"/>
                        </a:rPr>
                        <a:t>PID / Smith / Auto PID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76200" rIns="38100" bIns="38100"/>
                    <a:lstStyle/>
                    <a:p>
                      <a:r>
                        <a:rPr sz="2800" b="1">
                          <a:latin typeface="Arial"/>
                        </a:rPr>
                        <a:t>Controller development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2000">
                <a:tc>
                  <a:txBody>
                    <a:bodyPr lIns="38100" tIns="76200" rIns="38100" bIns="38100"/>
                    <a:lstStyle/>
                    <a:p>
                      <a:r>
                        <a:rPr sz="2800" b="0">
                          <a:latin typeface="Arial"/>
                        </a:rPr>
                        <a:t>Measured parameters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76200" rIns="38100" bIns="38100"/>
                    <a:lstStyle/>
                    <a:p>
                      <a:r>
                        <a:rPr sz="2800" b="1">
                          <a:latin typeface="Arial"/>
                        </a:rPr>
                        <a:t>Locked after identification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92000">
                <a:tc>
                  <a:txBody>
                    <a:bodyPr lIns="38100" tIns="76200" rIns="38100" bIns="38100"/>
                    <a:lstStyle/>
                    <a:p>
                      <a:r>
                        <a:rPr sz="2800" b="0">
                          <a:latin typeface="Arial"/>
                        </a:rPr>
                        <a:t>CSV logging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lIns="38100" tIns="76200" rIns="38100" bIns="38100"/>
                    <a:lstStyle/>
                    <a:p>
                      <a:r>
                        <a:rPr sz="2800" b="1">
                          <a:latin typeface="Arial"/>
                        </a:rPr>
                        <a:t>Traceable experiment review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poster-54">
            <a:extLst xmlns:a="http://schemas.openxmlformats.org/drawingml/2006/main">
              <a:ext uri="{FF2B5EF4-FFF2-40B4-BE49-F238E27FC236}">
                <a16:creationId xmlns:a16="http://schemas.microsoft.com/office/drawing/2014/main" id="{8C761C32-81F8-4081-8376-60E1901E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000" y="41184000"/>
            <a:ext cx="14256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24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000000"/>
                </a:solidFill>
                <a:latin typeface="Arial"/>
              </a:rPr>
              <a:t>Workflow: identify → simulate → lock/deploy. Measured model and delay values are protected by default; current scope is one 250 mL branch.</a:t>
            </a:r>
          </a:p>
        </p:txBody>
      </p:sp>
      <p:sp>
        <p:nvSpPr>
          <p:cNvPr id="56" name="poster-55">
            <a:extLst xmlns:a="http://schemas.openxmlformats.org/drawingml/2006/main">
              <a:ext uri="{FF2B5EF4-FFF2-40B4-BE49-F238E27FC236}">
                <a16:creationId xmlns:a16="http://schemas.microsoft.com/office/drawing/2014/main" id="{6B89A1F5-2A1C-4B9A-BF60-DF56AA1E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000" y="22680000"/>
            <a:ext cx="14832000" cy="1951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27B9F"/>
            </a:solidFill>
          </a:ln>
        </p:spPr>
      </p:sp>
      <p:sp>
        <p:nvSpPr>
          <p:cNvPr id="57" name="poster-56">
            <a:extLst xmlns:a="http://schemas.openxmlformats.org/drawingml/2006/main">
              <a:ext uri="{FF2B5EF4-FFF2-40B4-BE49-F238E27FC236}">
                <a16:creationId xmlns:a16="http://schemas.microsoft.com/office/drawing/2014/main" id="{E308264E-8BEA-469E-909B-F543E310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000" y="22680000"/>
            <a:ext cx="14832000" cy="8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643"/>
          </a:solidFill>
          <a:ln xmlns:a="http://schemas.openxmlformats.org/drawingml/2006/main" w="0">
            <a:noFill/>
          </a:ln>
        </p:spPr>
      </p:sp>
      <p:sp>
        <p:nvSpPr>
          <p:cNvPr id="58" name="poster-57">
            <a:extLst xmlns:a="http://schemas.openxmlformats.org/drawingml/2006/main">
              <a:ext uri="{FF2B5EF4-FFF2-40B4-BE49-F238E27FC236}">
                <a16:creationId xmlns:a16="http://schemas.microsoft.com/office/drawing/2014/main" id="{A061346B-01DB-484F-B76A-E7BF93DE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72000" y="22806000"/>
            <a:ext cx="14472000" cy="72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4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 i="0">
                <a:solidFill>
                  <a:srgbClr val="FFFFFF"/>
                </a:solidFill>
                <a:latin typeface="Arial"/>
              </a:rPr>
              <a:t>4. Control Method &amp; Validation</a:t>
            </a:r>
          </a:p>
        </p:txBody>
      </p:sp>
      <p:sp>
        <p:nvSpPr>
          <p:cNvPr id="59" name="poster-58">
            <a:extLst xmlns:a="http://schemas.openxmlformats.org/drawingml/2006/main">
              <a:ext uri="{FF2B5EF4-FFF2-40B4-BE49-F238E27FC236}">
                <a16:creationId xmlns:a16="http://schemas.microsoft.com/office/drawing/2014/main" id="{9BE46D2B-83CE-402E-950F-06509BC4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000" y="23868000"/>
            <a:ext cx="14328000" cy="18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F5"/>
          </a:solidFill>
          <a:ln xmlns:a="http://schemas.openxmlformats.org/drawingml/2006/main" w="19050">
            <a:solidFill>
              <a:srgbClr val="008C95"/>
            </a:solidFill>
          </a:ln>
        </p:spPr>
        <p:txBody>
          <a:bodyPr xmlns:a="http://schemas.openxmlformats.org/drawingml/2006/main" lIns="177800" tIns="127000" rIns="177800" bIns="10160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600"/>
              </a:spcAft>
              <a:defRPr sz="3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8C95"/>
                </a:solidFill>
                <a:latin typeface="Arial"/>
              </a:rPr>
              <a:t>OBJECTIVE  |  </a:t>
            </a:r>
            <a:r>
              <a:rPr sz="2400" b="1">
                <a:solidFill>
                  <a:srgbClr val="000643"/>
                </a:solidFill>
                <a:latin typeface="Arial"/>
              </a:rPr>
              <a:t>Track target flow and tidal volume despite nonlinear PPV response and measured delay.</a:t>
            </a:r>
          </a:p>
          <a:p xmlns:a="http://schemas.openxmlformats.org/drawingml/2006/main"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586878"/>
                </a:solidFill>
                <a:latin typeface="Arial"/>
              </a:rPr>
              <a:t>Feedforward supplies nominal valve opening; measured-flow PID removes residual error; Smith prediction is optional.</a:t>
            </a:r>
          </a:p>
        </p:txBody>
      </p:sp>
      <p:sp>
        <p:nvSpPr>
          <p:cNvPr id="64" name="poster-63">
            <a:extLst xmlns:a="http://schemas.openxmlformats.org/drawingml/2006/main">
              <a:ext uri="{FF2B5EF4-FFF2-40B4-BE49-F238E27FC236}">
                <a16:creationId xmlns:a16="http://schemas.microsoft.com/office/drawing/2014/main" id="{D345EA68-C497-496F-AFFB-D213D996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000" y="30636000"/>
            <a:ext cx="14328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000000"/>
                </a:solidFill>
                <a:latin typeface="Arial"/>
              </a:rPr>
              <a:t>Auto PID: bounded run-to-run PI search</a:t>
            </a:r>
          </a:p>
        </p:txBody>
      </p:sp>
      <p:sp>
        <p:nvSpPr>
          <p:cNvPr id="65" name="poster-64">
            <a:extLst xmlns:a="http://schemas.openxmlformats.org/drawingml/2006/main">
              <a:ext uri="{FF2B5EF4-FFF2-40B4-BE49-F238E27FC236}">
                <a16:creationId xmlns:a16="http://schemas.microsoft.com/office/drawing/2014/main" id="{8F30F37E-3503-4E67-B0BF-627B07BF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000" y="31500000"/>
            <a:ext cx="14328000" cy="23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000000"/>
                </a:solidFill>
                <a:latin typeface="Arial"/>
              </a:rPr>
              <a:t>Optional tuning evaluates a stable baseline and bounded Kp/Ki candidates over complete hardware runs. Flow error, tidal error and PPV saturation form the score. Kd and identified model/delay parameters remain fixed; the user reviews the best tested gains.</a:t>
            </a:r>
          </a:p>
        </p:txBody>
      </p:sp>
      <p:sp>
        <p:nvSpPr>
          <p:cNvPr id="66" name="poster-65">
            <a:extLst xmlns:a="http://schemas.openxmlformats.org/drawingml/2006/main">
              <a:ext uri="{FF2B5EF4-FFF2-40B4-BE49-F238E27FC236}">
                <a16:creationId xmlns:a16="http://schemas.microsoft.com/office/drawing/2014/main" id="{B1DDC8C3-5922-4861-8B87-57DB049E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000" y="34236000"/>
            <a:ext cx="14328000" cy="6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00" b="1" i="0">
                <a:solidFill>
                  <a:srgbClr val="000000"/>
                </a:solidFill>
                <a:latin typeface="Arial"/>
              </a:rPr>
              <a:t>Measured-delay compensation</a:t>
            </a:r>
          </a:p>
        </p:txBody>
      </p:sp>
      <p:sp>
        <p:nvSpPr>
          <p:cNvPr id="67" name="poster-66">
            <a:extLst xmlns:a="http://schemas.openxmlformats.org/drawingml/2006/main">
              <a:ext uri="{FF2B5EF4-FFF2-40B4-BE49-F238E27FC236}">
                <a16:creationId xmlns:a16="http://schemas.microsoft.com/office/drawing/2014/main" id="{41E4E0DC-D4CE-4BDE-B000-EF3B9928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000" y="35064000"/>
            <a:ext cx="14328000" cy="16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6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00" b="0" i="0">
                <a:solidFill>
                  <a:srgbClr val="000000"/>
                </a:solidFill>
                <a:latin typeface="Arial"/>
              </a:rPr>
              <a:t>Hardware adds no artificial delay. Optional Smith prediction uses the identified first-order model and measured command-to-feedback latency. Re-identify after changing tubing, valves, sensor filtering or sampling.</a:t>
            </a:r>
          </a:p>
        </p:txBody>
      </p:sp>
      <p:sp>
        <p:nvSpPr>
          <p:cNvPr id="70" name="poster-69">
            <a:extLst xmlns:a="http://schemas.openxmlformats.org/drawingml/2006/main">
              <a:ext uri="{FF2B5EF4-FFF2-40B4-BE49-F238E27FC236}">
                <a16:creationId xmlns:a16="http://schemas.microsoft.com/office/drawing/2014/main" id="{07C223C2-A5DA-45FB-BED9-374900B8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4000" y="40752000"/>
            <a:ext cx="14328000" cy="118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3600" b="0" i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00" b="0" i="1">
                <a:solidFill>
                  <a:srgbClr val="000000"/>
                </a:solidFill>
                <a:latin typeface="Arial"/>
              </a:rPr>
              <a:t>Fig. 4. Digital-twin pre-validation at 15 bpm. Model-based result; measured hardware validation remains required.</a:t>
            </a:r>
          </a:p>
        </p:txBody>
      </p:sp>
      <p:sp>
        <p:nvSpPr>
          <p:cNvPr id="71" name="poster-70">
            <a:extLst xmlns:a="http://schemas.openxmlformats.org/drawingml/2006/main">
              <a:ext uri="{FF2B5EF4-FFF2-40B4-BE49-F238E27FC236}">
                <a16:creationId xmlns:a16="http://schemas.microsoft.com/office/drawing/2014/main" id="{17102F92-39C2-4AE5-94F1-97F14A57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000" y="42336000"/>
            <a:ext cx="29556000" cy="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000000"/>
                </a:solidFill>
                <a:latin typeface="Arial"/>
              </a:rPr>
              <a:t>Industry collaborator: 4DMedical | Prototype images: project scope deck (19 March 2026) | Simulation result: current single-lung model | Bench prototype—not for clinical use.</a:t>
            </a:r>
          </a:p>
        </p:txBody>
      </p:sp>
      <p:pic xmlns:a="http://schemas.openxmlformats.org/drawingml/2006/main" xmlns:r="http://schemas.openxmlformats.org/officeDocument/2006/relationships">
        <p:nvPicPr>
          <p:cNvPr id="125" name="Picture 124" descr="six_lobe_lung_prototype.png"/>
          <p:cNvPicPr>
            <a:picLocks noChangeAspect="1"/>
          </p:cNvPicPr>
          <p:nvPr/>
        </p:nvPicPr>
        <p:blipFill>
          <a:blip r:embed="rId7"/>
          <a:srcRect l="20875" r="20875"/>
          <a:stretch>
            <a:fillRect/>
          </a:stretch>
        </p:blipFill>
        <p:spPr>
          <a:xfrm>
            <a:off x="6300000" y="12240000"/>
            <a:ext cx="8388000" cy="8100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26" name="Picture 125" descr="pneumatic_control_case.jpg"/>
          <p:cNvPicPr>
            <a:picLocks noChangeAspect="1"/>
          </p:cNvPicPr>
          <p:nvPr/>
        </p:nvPicPr>
        <p:blipFill>
          <a:blip r:embed="rId8"/>
          <a:srcRect t="33176" b="33176"/>
          <a:stretch>
            <a:fillRect/>
          </a:stretch>
        </p:blipFill>
        <p:spPr>
          <a:xfrm>
            <a:off x="19080000" y="15480000"/>
            <a:ext cx="10512000" cy="4716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27" name="Picture 126" descr="model_transfer_workflow.png"/>
          <p:cNvPicPr>
            <a:picLocks noChangeAspect="1"/>
          </p:cNvPicPr>
          <p:nvPr/>
        </p:nvPicPr>
        <p:blipFill>
          <a:blip r:embed="rId9"/>
          <a:srcRect t="919" b="919"/>
          <a:stretch>
            <a:fillRect/>
          </a:stretch>
        </p:blipFill>
        <p:spPr>
          <a:xfrm>
            <a:off x="468000" y="37440000"/>
            <a:ext cx="14256000" cy="3384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28" name="Picture 127" descr="control_strategy_diagram.png"/>
          <p:cNvPicPr>
            <a:picLocks noChangeAspect="1"/>
          </p:cNvPicPr>
          <p:nvPr/>
        </p:nvPicPr>
        <p:blipFill>
          <a:blip r:embed="rId10"/>
          <a:srcRect t="354" b="354"/>
          <a:stretch>
            <a:fillRect/>
          </a:stretch>
        </p:blipFill>
        <p:spPr>
          <a:xfrm>
            <a:off x="15444000" y="25920000"/>
            <a:ext cx="14328000" cy="432000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129" name="Picture 128" descr="single_lung_digital_twin_validation.png"/>
          <p:cNvPicPr>
            <a:picLocks noChangeAspect="1"/>
          </p:cNvPicPr>
          <p:nvPr/>
        </p:nvPicPr>
        <p:blipFill>
          <a:blip r:embed="rId11"/>
          <a:srcRect t="1759" b="1759"/>
          <a:stretch>
            <a:fillRect/>
          </a:stretch>
        </p:blipFill>
        <p:spPr>
          <a:xfrm>
            <a:off x="15444000" y="37080000"/>
            <a:ext cx="14328000" cy="34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509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2026-09-30T11:37:08.9700000Z</dcterms:created>
  <dcterms:modified xsi:type="dcterms:W3CDTF">2026-09-30T11:37:08.9700000Z</dcterms:modified>
</coreProperties>
</file>
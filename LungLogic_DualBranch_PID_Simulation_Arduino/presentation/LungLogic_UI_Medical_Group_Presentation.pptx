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will focus on the interface: how it turns breathing requirements into a repeatable simulation, what has been implemented, and where the physical system currently limits the result. I will finish with the decisions and measurements needed from the next stage.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 is not simply to display a moving lung. The interface converts a requested breath into timing, flow and valve behaviour that can be checked. The system-level targets are 500 millilitres across two branches, 12 to 18 breaths per minute with 15 nominal, a one-to-two I:E ratio, and repeatability over 30 breaths. This prototype represents only one 250 millilitre branch, so it cannot yet claim the two-branch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show the two interface layers. User Mode is designed around the requested breath and its outcome. Developer Mode opens the controller and model details needed for diagnosis and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Mode is the main demonstration view. First, the user enters the breathing target. Applying the settings recalculates the full simulation. Playback then shows the current phase, routing valves, pinch-valve opening, sensor location, lung volume and flow. The panel on the left reports the current frame and the most recent tidal volume. The flow chart compares simulated measured flow with the requested flat setpoint. This is precomputed playback, not live hardware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Mode answers a different question: why did the result pass or fail? It exposes timing, controller gains, model feedforward, Smith prediction, input delay, sensor assumptions and the optional volume deadline guard. The plots align volume, flow, PPV command and the state machine on the same time axis. This matters because a tidal-volume pass may still rely on valve saturation or a large flow pulse.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section separates completed software capability from physical-system evidence, then examines the nominal fifteen-breath-per-minute case.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interface itself is implemented and supports two levels of use, parameter validation, plots, repeatable simulations and saved settings. However, the physical controller is not complete. The STM32 demo can read the SFM3300, but that reading is not yet used by this PID model; the pinch valve is not driven by this loop; pressure is not synchronized; and neither 30 physical breaths nor independent dual-branch control has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30-cycle model result is useful, but it must be described precisely. Twelve and fifteen breaths per minute are within the 237.5 to 262.5 millilitre acceptance band. Sixteen misses by 0.2 millilitres in its weakest breath, and eighteen fails clearly. At fifteen, however, the volume deadline guard drives the pinch valve fully open for almost every inspiration sample. Therefore fifteen is a marginal simulated pass with no useful control margin, not a robust hardware result.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fifteen breaths per minute, the full cycle is four seconds and the one-to-two ratio gives 1.333 seconds for inspiration. Direction switching and the assumed input delay leave about 1.23 seconds of pneumatic response, while the model assumes 1.30 seconds to reach full volume from empty. That explains why the volume guard saturates the valve. We need 4DMedical to tell us which constraints are clinically or experimentally non-negotiable: cadence, tidal volume, I:E ratio, per-breath tolerance and flow shape. At eighteen, this assumed plant cannot reach the tolerance band even when fully open, so changing PID gains alone is not a solution.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section turns the current uncertainty into a short measurement and validation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stage has three gates. First, calibrate the assembled path using a fully open inspiration and expiration test plus a fixed-opening pinch-valve sweep, with synchronized flow, independent volume, pressure and command signals. Second, implement the real closed loop so the microcontroller drives the valves and uses measured flow. Third, run 30-cycle tests at the agreed nominal and boundary conditions, then extend to two independently controlled branches. Each gate produces evidence for the next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0352"/>
            <a:ext cx="146304" cy="544068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1051560"/>
            <a:ext cx="6949440" cy="731520"/>
          </a:xfrm>
          <a:prstGeom prst="rect">
            <a:avLst/>
          </a:prstGeom>
          <a:noFill/>
        </p:spPr>
        <p:txBody>
          <a:bodyPr wrap="square" lIns="27432" rIns="27432" tIns="18288" bIns="18288" anchor="t">
            <a:spAutoFit/>
          </a:bodyPr>
          <a:lstStyle/>
          <a:p>
            <a:pPr algn="l">
              <a:spcAft>
                <a:spcPts val="300"/>
              </a:spcAft>
              <a:defRPr sz="3400" b="1">
                <a:solidFill>
                  <a:srgbClr val="FFFFFF"/>
                </a:solidFill>
                <a:latin typeface="Aptos"/>
              </a:defRPr>
            </a:pPr>
            <a:r>
              <a:t>LungLogic UI</a:t>
            </a:r>
          </a:p>
        </p:txBody>
      </p:sp>
      <p:sp>
        <p:nvSpPr>
          <p:cNvPr id="5" name="TextBox 4"/>
          <p:cNvSpPr txBox="1"/>
          <p:nvPr/>
        </p:nvSpPr>
        <p:spPr>
          <a:xfrm>
            <a:off x="932688" y="1865376"/>
            <a:ext cx="9966960" cy="594360"/>
          </a:xfrm>
          <a:prstGeom prst="rect">
            <a:avLst/>
          </a:prstGeom>
          <a:noFill/>
        </p:spPr>
        <p:txBody>
          <a:bodyPr wrap="square" lIns="27432" rIns="27432" tIns="18288" bIns="18288" anchor="t">
            <a:spAutoFit/>
          </a:bodyPr>
          <a:lstStyle/>
          <a:p>
            <a:pPr algn="l">
              <a:spcAft>
                <a:spcPts val="300"/>
              </a:spcAft>
              <a:defRPr sz="2400" b="0">
                <a:solidFill>
                  <a:srgbClr val="CCE6E9"/>
                </a:solidFill>
                <a:latin typeface="Aptos"/>
              </a:defRPr>
            </a:pPr>
            <a:r>
              <a:t>From breathing requirements to testable control</a:t>
            </a:r>
          </a:p>
        </p:txBody>
      </p:sp>
      <p:sp>
        <p:nvSpPr>
          <p:cNvPr id="6" name="TextBox 5"/>
          <p:cNvSpPr txBox="1"/>
          <p:nvPr/>
        </p:nvSpPr>
        <p:spPr>
          <a:xfrm>
            <a:off x="950976" y="2770632"/>
            <a:ext cx="7955279" cy="365760"/>
          </a:xfrm>
          <a:prstGeom prst="rect">
            <a:avLst/>
          </a:prstGeom>
          <a:noFill/>
        </p:spPr>
        <p:txBody>
          <a:bodyPr wrap="square" lIns="27432" rIns="27432" tIns="18288" bIns="18288" anchor="t">
            <a:spAutoFit/>
          </a:bodyPr>
          <a:lstStyle/>
          <a:p>
            <a:pPr algn="l">
              <a:spcAft>
                <a:spcPts val="300"/>
              </a:spcAft>
              <a:defRPr sz="1600" b="0">
                <a:solidFill>
                  <a:srgbClr val="FFFFFF"/>
                </a:solidFill>
                <a:latin typeface="Aptos"/>
              </a:defRPr>
            </a:pPr>
            <a:r>
              <a:t>Capstone update for 4DMedical / Medical Group</a:t>
            </a:r>
          </a:p>
        </p:txBody>
      </p:sp>
      <p:sp>
        <p:nvSpPr>
          <p:cNvPr id="7" name="Rounded Rectangle 6"/>
          <p:cNvSpPr/>
          <p:nvPr/>
        </p:nvSpPr>
        <p:spPr>
          <a:xfrm>
            <a:off x="932688" y="3867912"/>
            <a:ext cx="10012680" cy="1097280"/>
          </a:xfrm>
          <a:prstGeom prst="roundRect">
            <a:avLst/>
          </a:prstGeom>
          <a:solidFill>
            <a:srgbClr val="20425C"/>
          </a:solidFill>
          <a:ln w="12700">
            <a:solidFill>
              <a:srgbClr val="4D73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 y="4105656"/>
            <a:ext cx="9326880" cy="640080"/>
          </a:xfrm>
          <a:prstGeom prst="rect">
            <a:avLst/>
          </a:prstGeom>
          <a:noFill/>
        </p:spPr>
        <p:txBody>
          <a:bodyPr wrap="square" lIns="27432" rIns="27432" tIns="18288" bIns="18288" anchor="ctr">
            <a:spAutoFit/>
          </a:bodyPr>
          <a:lstStyle/>
          <a:p>
            <a:pPr algn="l">
              <a:spcAft>
                <a:spcPts val="300"/>
              </a:spcAft>
              <a:defRPr sz="1700" b="1">
                <a:solidFill>
                  <a:srgbClr val="FFFFFF"/>
                </a:solidFill>
                <a:latin typeface="Aptos"/>
              </a:defRPr>
            </a:pPr>
            <a:r>
              <a:t>Focus: what the interface does, what the simulation shows,</a:t>
            </a:r>
          </a:p>
          <a:p>
            <a:pPr algn="l">
              <a:spcAft>
                <a:spcPts val="300"/>
              </a:spcAft>
              <a:defRPr sz="1700" b="1">
                <a:solidFill>
                  <a:srgbClr val="FFFFFF"/>
                </a:solidFill>
                <a:latin typeface="Aptos"/>
              </a:defRPr>
            </a:pPr>
            <a:r>
              <a:t>and which system requirements still need agreement</a:t>
            </a:r>
          </a:p>
        </p:txBody>
      </p:sp>
      <p:sp>
        <p:nvSpPr>
          <p:cNvPr id="9" name="TextBox 8"/>
          <p:cNvSpPr txBox="1"/>
          <p:nvPr/>
        </p:nvSpPr>
        <p:spPr>
          <a:xfrm>
            <a:off x="941832" y="6181344"/>
            <a:ext cx="3657600" cy="201168"/>
          </a:xfrm>
          <a:prstGeom prst="rect">
            <a:avLst/>
          </a:prstGeom>
          <a:noFill/>
        </p:spPr>
        <p:txBody>
          <a:bodyPr wrap="square" lIns="27432" rIns="27432" tIns="18288" bIns="18288" anchor="t">
            <a:spAutoFit/>
          </a:bodyPr>
          <a:lstStyle/>
          <a:p>
            <a:pPr algn="l">
              <a:spcAft>
                <a:spcPts val="300"/>
              </a:spcAft>
              <a:defRPr sz="1000" b="0">
                <a:solidFill>
                  <a:srgbClr val="BECFDC"/>
                </a:solidFill>
                <a:latin typeface="Aptos"/>
              </a:defRPr>
            </a:pPr>
            <a:r>
              <a:t>22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1 — OBJECTIVE &amp; REQUIREMENTS</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Objective first: make breathing performance visible and testable</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Prototype scope: one 250 mL branch; dual-branch performance is not yet demonstrated.</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2</a:t>
            </a:r>
          </a:p>
        </p:txBody>
      </p:sp>
      <p:sp>
        <p:nvSpPr>
          <p:cNvPr id="8" name="Rounded Rectangle 7"/>
          <p:cNvSpPr/>
          <p:nvPr/>
        </p:nvSpPr>
        <p:spPr>
          <a:xfrm>
            <a:off x="566928" y="1335024"/>
            <a:ext cx="11018520" cy="1078992"/>
          </a:xfrm>
          <a:prstGeom prst="roundRect">
            <a:avLst/>
          </a:prstGeom>
          <a:solidFill>
            <a:srgbClr val="E2F5F5"/>
          </a:solidFill>
          <a:ln w="12700">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36192"/>
            <a:ext cx="1417320" cy="228600"/>
          </a:xfrm>
          <a:prstGeom prst="rect">
            <a:avLst/>
          </a:prstGeom>
          <a:noFill/>
        </p:spPr>
        <p:txBody>
          <a:bodyPr wrap="square" lIns="27432" rIns="27432" tIns="18288" bIns="18288" anchor="t">
            <a:spAutoFit/>
          </a:bodyPr>
          <a:lstStyle/>
          <a:p>
            <a:pPr algn="l">
              <a:spcAft>
                <a:spcPts val="300"/>
              </a:spcAft>
              <a:defRPr sz="1000" b="1">
                <a:solidFill>
                  <a:srgbClr val="008991"/>
                </a:solidFill>
                <a:latin typeface="Aptos"/>
              </a:defRPr>
            </a:pPr>
            <a:r>
              <a:t>OBJECTIVE</a:t>
            </a:r>
          </a:p>
        </p:txBody>
      </p:sp>
      <p:sp>
        <p:nvSpPr>
          <p:cNvPr id="10" name="TextBox 9"/>
          <p:cNvSpPr txBox="1"/>
          <p:nvPr/>
        </p:nvSpPr>
        <p:spPr>
          <a:xfrm>
            <a:off x="2167128" y="1463040"/>
            <a:ext cx="9052560" cy="621792"/>
          </a:xfrm>
          <a:prstGeom prst="rect">
            <a:avLst/>
          </a:prstGeom>
          <a:noFill/>
        </p:spPr>
        <p:txBody>
          <a:bodyPr wrap="square" lIns="27432" rIns="27432" tIns="18288" bIns="18288" anchor="ctr">
            <a:spAutoFit/>
          </a:bodyPr>
          <a:lstStyle/>
          <a:p>
            <a:pPr algn="l">
              <a:spcAft>
                <a:spcPts val="300"/>
              </a:spcAft>
              <a:defRPr sz="1800" b="1">
                <a:solidFill>
                  <a:srgbClr val="142B42"/>
                </a:solidFill>
                <a:latin typeface="Aptos"/>
              </a:defRPr>
            </a:pPr>
            <a:r>
              <a:t>Let a user configure a breathing target, see the pneumatic response, and judge whether repeated breaths meet the target before hardware deployment.</a:t>
            </a:r>
          </a:p>
        </p:txBody>
      </p:sp>
      <p:sp>
        <p:nvSpPr>
          <p:cNvPr id="11" name="Rounded Rectangle 10"/>
          <p:cNvSpPr/>
          <p:nvPr/>
        </p:nvSpPr>
        <p:spPr>
          <a:xfrm>
            <a:off x="566928" y="2761488"/>
            <a:ext cx="2542032" cy="2148840"/>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944368"/>
            <a:ext cx="438912" cy="320040"/>
          </a:xfrm>
          <a:prstGeom prst="rect">
            <a:avLst/>
          </a:prstGeom>
          <a:noFill/>
        </p:spPr>
        <p:txBody>
          <a:bodyPr wrap="square" lIns="27432" rIns="27432" tIns="18288" bIns="18288" anchor="t">
            <a:spAutoFit/>
          </a:bodyPr>
          <a:lstStyle/>
          <a:p>
            <a:pPr algn="l">
              <a:spcAft>
                <a:spcPts val="300"/>
              </a:spcAft>
              <a:defRPr sz="1300" b="1">
                <a:solidFill>
                  <a:srgbClr val="008991"/>
                </a:solidFill>
                <a:latin typeface="Aptos"/>
              </a:defRPr>
            </a:pPr>
            <a:r>
              <a:t>01</a:t>
            </a:r>
          </a:p>
        </p:txBody>
      </p:sp>
      <p:sp>
        <p:nvSpPr>
          <p:cNvPr id="13" name="TextBox 12"/>
          <p:cNvSpPr txBox="1"/>
          <p:nvPr/>
        </p:nvSpPr>
        <p:spPr>
          <a:xfrm>
            <a:off x="731520" y="3456432"/>
            <a:ext cx="2212848" cy="384048"/>
          </a:xfrm>
          <a:prstGeom prst="rect">
            <a:avLst/>
          </a:prstGeom>
          <a:noFill/>
        </p:spPr>
        <p:txBody>
          <a:bodyPr wrap="square" lIns="27432" rIns="27432" tIns="18288" bIns="18288" anchor="t">
            <a:spAutoFit/>
          </a:bodyPr>
          <a:lstStyle/>
          <a:p>
            <a:pPr algn="l">
              <a:spcAft>
                <a:spcPts val="300"/>
              </a:spcAft>
              <a:defRPr sz="1700" b="1">
                <a:solidFill>
                  <a:srgbClr val="142B42"/>
                </a:solidFill>
                <a:latin typeface="Aptos"/>
              </a:defRPr>
            </a:pPr>
            <a:r>
              <a:t>250 mL per branch</a:t>
            </a:r>
          </a:p>
        </p:txBody>
      </p:sp>
      <p:sp>
        <p:nvSpPr>
          <p:cNvPr id="14" name="TextBox 13"/>
          <p:cNvSpPr txBox="1"/>
          <p:nvPr/>
        </p:nvSpPr>
        <p:spPr>
          <a:xfrm>
            <a:off x="731520" y="3995928"/>
            <a:ext cx="2194560" cy="521207"/>
          </a:xfrm>
          <a:prstGeom prst="rect">
            <a:avLst/>
          </a:prstGeom>
          <a:noFill/>
        </p:spPr>
        <p:txBody>
          <a:bodyPr wrap="square" lIns="27432" rIns="27432" tIns="18288" bIns="18288" anchor="t">
            <a:spAutoFit/>
          </a:bodyPr>
          <a:lstStyle/>
          <a:p>
            <a:pPr algn="l">
              <a:spcAft>
                <a:spcPts val="300"/>
              </a:spcAft>
              <a:defRPr sz="1250" b="0">
                <a:solidFill>
                  <a:srgbClr val="5B6975"/>
                </a:solidFill>
                <a:latin typeface="Aptos"/>
              </a:defRPr>
            </a:pPr>
            <a:r>
              <a:t>500 mL total system target</a:t>
            </a:r>
          </a:p>
        </p:txBody>
      </p:sp>
      <p:sp>
        <p:nvSpPr>
          <p:cNvPr id="15" name="Rounded Rectangle 14"/>
          <p:cNvSpPr/>
          <p:nvPr/>
        </p:nvSpPr>
        <p:spPr>
          <a:xfrm>
            <a:off x="3355848" y="2761488"/>
            <a:ext cx="2542032" cy="2148840"/>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944368"/>
            <a:ext cx="438912" cy="320040"/>
          </a:xfrm>
          <a:prstGeom prst="rect">
            <a:avLst/>
          </a:prstGeom>
          <a:noFill/>
        </p:spPr>
        <p:txBody>
          <a:bodyPr wrap="square" lIns="27432" rIns="27432" tIns="18288" bIns="18288" anchor="t">
            <a:spAutoFit/>
          </a:bodyPr>
          <a:lstStyle/>
          <a:p>
            <a:pPr algn="l">
              <a:spcAft>
                <a:spcPts val="300"/>
              </a:spcAft>
              <a:defRPr sz="1300" b="1">
                <a:solidFill>
                  <a:srgbClr val="008991"/>
                </a:solidFill>
                <a:latin typeface="Aptos"/>
              </a:defRPr>
            </a:pPr>
            <a:r>
              <a:t>02</a:t>
            </a:r>
          </a:p>
        </p:txBody>
      </p:sp>
      <p:sp>
        <p:nvSpPr>
          <p:cNvPr id="17" name="TextBox 16"/>
          <p:cNvSpPr txBox="1"/>
          <p:nvPr/>
        </p:nvSpPr>
        <p:spPr>
          <a:xfrm>
            <a:off x="3520440" y="3456432"/>
            <a:ext cx="2212848" cy="384048"/>
          </a:xfrm>
          <a:prstGeom prst="rect">
            <a:avLst/>
          </a:prstGeom>
          <a:noFill/>
        </p:spPr>
        <p:txBody>
          <a:bodyPr wrap="square" lIns="27432" rIns="27432" tIns="18288" bIns="18288" anchor="t">
            <a:spAutoFit/>
          </a:bodyPr>
          <a:lstStyle/>
          <a:p>
            <a:pPr algn="l">
              <a:spcAft>
                <a:spcPts val="300"/>
              </a:spcAft>
              <a:defRPr sz="1700" b="1">
                <a:solidFill>
                  <a:srgbClr val="142B42"/>
                </a:solidFill>
                <a:latin typeface="Aptos"/>
              </a:defRPr>
            </a:pPr>
            <a:r>
              <a:t>12–18 bpm</a:t>
            </a:r>
          </a:p>
        </p:txBody>
      </p:sp>
      <p:sp>
        <p:nvSpPr>
          <p:cNvPr id="18" name="TextBox 17"/>
          <p:cNvSpPr txBox="1"/>
          <p:nvPr/>
        </p:nvSpPr>
        <p:spPr>
          <a:xfrm>
            <a:off x="3520440" y="3995928"/>
            <a:ext cx="2194560" cy="521207"/>
          </a:xfrm>
          <a:prstGeom prst="rect">
            <a:avLst/>
          </a:prstGeom>
          <a:noFill/>
        </p:spPr>
        <p:txBody>
          <a:bodyPr wrap="square" lIns="27432" rIns="27432" tIns="18288" bIns="18288" anchor="t">
            <a:spAutoFit/>
          </a:bodyPr>
          <a:lstStyle/>
          <a:p>
            <a:pPr algn="l">
              <a:spcAft>
                <a:spcPts val="300"/>
              </a:spcAft>
              <a:defRPr sz="1250" b="0">
                <a:solidFill>
                  <a:srgbClr val="5B6975"/>
                </a:solidFill>
                <a:latin typeface="Aptos"/>
              </a:defRPr>
            </a:pPr>
            <a:r>
              <a:t>15 bpm nominal; I:E = 1:2</a:t>
            </a:r>
          </a:p>
        </p:txBody>
      </p:sp>
      <p:sp>
        <p:nvSpPr>
          <p:cNvPr id="19" name="Rounded Rectangle 18"/>
          <p:cNvSpPr/>
          <p:nvPr/>
        </p:nvSpPr>
        <p:spPr>
          <a:xfrm>
            <a:off x="6144768" y="2761488"/>
            <a:ext cx="2542032" cy="2148840"/>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59" y="2944368"/>
            <a:ext cx="438912" cy="320040"/>
          </a:xfrm>
          <a:prstGeom prst="rect">
            <a:avLst/>
          </a:prstGeom>
          <a:noFill/>
        </p:spPr>
        <p:txBody>
          <a:bodyPr wrap="square" lIns="27432" rIns="27432" tIns="18288" bIns="18288" anchor="t">
            <a:spAutoFit/>
          </a:bodyPr>
          <a:lstStyle/>
          <a:p>
            <a:pPr algn="l">
              <a:spcAft>
                <a:spcPts val="300"/>
              </a:spcAft>
              <a:defRPr sz="1300" b="1">
                <a:solidFill>
                  <a:srgbClr val="008991"/>
                </a:solidFill>
                <a:latin typeface="Aptos"/>
              </a:defRPr>
            </a:pPr>
            <a:r>
              <a:t>03</a:t>
            </a:r>
          </a:p>
        </p:txBody>
      </p:sp>
      <p:sp>
        <p:nvSpPr>
          <p:cNvPr id="21" name="TextBox 20"/>
          <p:cNvSpPr txBox="1"/>
          <p:nvPr/>
        </p:nvSpPr>
        <p:spPr>
          <a:xfrm>
            <a:off x="6309359" y="3456432"/>
            <a:ext cx="2212848" cy="384048"/>
          </a:xfrm>
          <a:prstGeom prst="rect">
            <a:avLst/>
          </a:prstGeom>
          <a:noFill/>
        </p:spPr>
        <p:txBody>
          <a:bodyPr wrap="square" lIns="27432" rIns="27432" tIns="18288" bIns="18288" anchor="t">
            <a:spAutoFit/>
          </a:bodyPr>
          <a:lstStyle/>
          <a:p>
            <a:pPr algn="l">
              <a:spcAft>
                <a:spcPts val="300"/>
              </a:spcAft>
              <a:defRPr sz="1700" b="1">
                <a:solidFill>
                  <a:srgbClr val="142B42"/>
                </a:solidFill>
                <a:latin typeface="Aptos"/>
              </a:defRPr>
            </a:pPr>
            <a:r>
              <a:t>30 repeatable cycles</a:t>
            </a:r>
          </a:p>
        </p:txBody>
      </p:sp>
      <p:sp>
        <p:nvSpPr>
          <p:cNvPr id="22" name="TextBox 21"/>
          <p:cNvSpPr txBox="1"/>
          <p:nvPr/>
        </p:nvSpPr>
        <p:spPr>
          <a:xfrm>
            <a:off x="6309359" y="3995928"/>
            <a:ext cx="2194560" cy="521207"/>
          </a:xfrm>
          <a:prstGeom prst="rect">
            <a:avLst/>
          </a:prstGeom>
          <a:noFill/>
        </p:spPr>
        <p:txBody>
          <a:bodyPr wrap="square" lIns="27432" rIns="27432" tIns="18288" bIns="18288" anchor="t">
            <a:spAutoFit/>
          </a:bodyPr>
          <a:lstStyle/>
          <a:p>
            <a:pPr algn="l">
              <a:spcAft>
                <a:spcPts val="300"/>
              </a:spcAft>
              <a:defRPr sz="1250" b="0">
                <a:solidFill>
                  <a:srgbClr val="5B6975"/>
                </a:solidFill>
                <a:latin typeface="Aptos"/>
              </a:defRPr>
            </a:pPr>
            <a:r>
              <a:t>tidal volume within ±5%</a:t>
            </a:r>
          </a:p>
        </p:txBody>
      </p:sp>
      <p:sp>
        <p:nvSpPr>
          <p:cNvPr id="23" name="Rounded Rectangle 22"/>
          <p:cNvSpPr/>
          <p:nvPr/>
        </p:nvSpPr>
        <p:spPr>
          <a:xfrm>
            <a:off x="8933687" y="2761488"/>
            <a:ext cx="2542032" cy="2148840"/>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79" y="2944368"/>
            <a:ext cx="438912" cy="320040"/>
          </a:xfrm>
          <a:prstGeom prst="rect">
            <a:avLst/>
          </a:prstGeom>
          <a:noFill/>
        </p:spPr>
        <p:txBody>
          <a:bodyPr wrap="square" lIns="27432" rIns="27432" tIns="18288" bIns="18288" anchor="t">
            <a:spAutoFit/>
          </a:bodyPr>
          <a:lstStyle/>
          <a:p>
            <a:pPr algn="l">
              <a:spcAft>
                <a:spcPts val="300"/>
              </a:spcAft>
              <a:defRPr sz="1300" b="1">
                <a:solidFill>
                  <a:srgbClr val="008991"/>
                </a:solidFill>
                <a:latin typeface="Aptos"/>
              </a:defRPr>
            </a:pPr>
            <a:r>
              <a:t>04</a:t>
            </a:r>
          </a:p>
        </p:txBody>
      </p:sp>
      <p:sp>
        <p:nvSpPr>
          <p:cNvPr id="25" name="TextBox 24"/>
          <p:cNvSpPr txBox="1"/>
          <p:nvPr/>
        </p:nvSpPr>
        <p:spPr>
          <a:xfrm>
            <a:off x="9098279" y="3456432"/>
            <a:ext cx="2212848" cy="384048"/>
          </a:xfrm>
          <a:prstGeom prst="rect">
            <a:avLst/>
          </a:prstGeom>
          <a:noFill/>
        </p:spPr>
        <p:txBody>
          <a:bodyPr wrap="square" lIns="27432" rIns="27432" tIns="18288" bIns="18288" anchor="t">
            <a:spAutoFit/>
          </a:bodyPr>
          <a:lstStyle/>
          <a:p>
            <a:pPr algn="l">
              <a:spcAft>
                <a:spcPts val="300"/>
              </a:spcAft>
              <a:defRPr sz="1700" b="1">
                <a:solidFill>
                  <a:srgbClr val="142B42"/>
                </a:solidFill>
                <a:latin typeface="Aptos"/>
              </a:defRPr>
            </a:pPr>
            <a:r>
              <a:t>Independent branches</a:t>
            </a:r>
          </a:p>
        </p:txBody>
      </p:sp>
      <p:sp>
        <p:nvSpPr>
          <p:cNvPr id="26" name="TextBox 25"/>
          <p:cNvSpPr txBox="1"/>
          <p:nvPr/>
        </p:nvSpPr>
        <p:spPr>
          <a:xfrm>
            <a:off x="9098279" y="3995928"/>
            <a:ext cx="2194560" cy="521207"/>
          </a:xfrm>
          <a:prstGeom prst="rect">
            <a:avLst/>
          </a:prstGeom>
          <a:noFill/>
        </p:spPr>
        <p:txBody>
          <a:bodyPr wrap="square" lIns="27432" rIns="27432" tIns="18288" bIns="18288" anchor="t">
            <a:spAutoFit/>
          </a:bodyPr>
          <a:lstStyle/>
          <a:p>
            <a:pPr algn="l">
              <a:spcAft>
                <a:spcPts val="300"/>
              </a:spcAft>
              <a:defRPr sz="1250" b="0">
                <a:solidFill>
                  <a:srgbClr val="5B6975"/>
                </a:solidFill>
                <a:latin typeface="Aptos"/>
              </a:defRPr>
            </a:pPr>
            <a:r>
              <a:t>safe ATM / VAC switching</a:t>
            </a:r>
          </a:p>
        </p:txBody>
      </p:sp>
      <p:sp>
        <p:nvSpPr>
          <p:cNvPr id="27" name="TextBox 26"/>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Requirements source: project brief and PROTOTYPE_REQUIREMENTS.md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1051560"/>
            <a:ext cx="1097280" cy="822960"/>
          </a:xfrm>
          <a:prstGeom prst="rect">
            <a:avLst/>
          </a:prstGeom>
          <a:noFill/>
        </p:spPr>
        <p:txBody>
          <a:bodyPr wrap="square" lIns="27432" rIns="27432" tIns="18288" bIns="18288" anchor="t">
            <a:spAutoFit/>
          </a:bodyPr>
          <a:lstStyle/>
          <a:p>
            <a:pPr algn="l">
              <a:spcAft>
                <a:spcPts val="300"/>
              </a:spcAft>
              <a:defRPr sz="3400" b="1">
                <a:solidFill>
                  <a:srgbClr val="008991"/>
                </a:solidFill>
                <a:latin typeface="Aptos"/>
              </a:defRPr>
            </a:pPr>
            <a:r>
              <a:t>02</a:t>
            </a:r>
          </a:p>
        </p:txBody>
      </p:sp>
      <p:sp>
        <p:nvSpPr>
          <p:cNvPr id="4" name="TextBox 3"/>
          <p:cNvSpPr txBox="1"/>
          <p:nvPr/>
        </p:nvSpPr>
        <p:spPr>
          <a:xfrm>
            <a:off x="2039112" y="1170432"/>
            <a:ext cx="8778240" cy="731520"/>
          </a:xfrm>
          <a:prstGeom prst="rect">
            <a:avLst/>
          </a:prstGeom>
          <a:noFill/>
        </p:spPr>
        <p:txBody>
          <a:bodyPr wrap="square" lIns="27432" rIns="27432" tIns="18288" bIns="18288" anchor="t">
            <a:spAutoFit/>
          </a:bodyPr>
          <a:lstStyle/>
          <a:p>
            <a:pPr algn="l">
              <a:spcAft>
                <a:spcPts val="300"/>
              </a:spcAft>
              <a:defRPr sz="3100" b="1">
                <a:solidFill>
                  <a:srgbClr val="FFFFFF"/>
                </a:solidFill>
                <a:latin typeface="Aptos"/>
              </a:defRPr>
            </a:pPr>
            <a:r>
              <a:t>UI walkthrough</a:t>
            </a:r>
          </a:p>
        </p:txBody>
      </p:sp>
      <p:cxnSp>
        <p:nvCxnSpPr>
          <p:cNvPr id="5" name="Connector 4"/>
          <p:cNvCxnSpPr/>
          <p:nvPr/>
        </p:nvCxnSpPr>
        <p:spPr>
          <a:xfrm>
            <a:off x="2039112" y="2157984"/>
            <a:ext cx="8842248" cy="0"/>
          </a:xfrm>
          <a:prstGeom prst="line">
            <a:avLst/>
          </a:prstGeom>
          <a:ln w="17780">
            <a:solidFill>
              <a:srgbClr val="4B687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039112" y="2505456"/>
            <a:ext cx="8686800" cy="1143000"/>
          </a:xfrm>
          <a:prstGeom prst="rect">
            <a:avLst/>
          </a:prstGeom>
          <a:noFill/>
        </p:spPr>
        <p:txBody>
          <a:bodyPr wrap="square" lIns="27432" rIns="27432" tIns="18288" bIns="18288" anchor="ctr">
            <a:spAutoFit/>
          </a:bodyPr>
          <a:lstStyle/>
          <a:p>
            <a:pPr algn="l">
              <a:spcAft>
                <a:spcPts val="300"/>
              </a:spcAft>
              <a:defRPr sz="2000" b="0">
                <a:solidFill>
                  <a:srgbClr val="CCDCE7"/>
                </a:solidFill>
                <a:latin typeface="Aptos"/>
              </a:defRPr>
            </a:pPr>
            <a:r>
              <a:t>One simple mode for setting and reviewing a breath; one technical mode for understanding the controller and assumptions.</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A0B6C6"/>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2 — UI WALKTHROUGH</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User Mode: set a breath, play it back, assess the result</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The interface exposes clinical-style settings while keeping model assumptions out of the main workflow.</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4</a:t>
            </a:r>
          </a:p>
        </p:txBody>
      </p:sp>
      <p:pic>
        <p:nvPicPr>
          <p:cNvPr id="8" name="Picture 7" descr="ui_user_mode.png"/>
          <p:cNvPicPr>
            <a:picLocks noChangeAspect="1"/>
          </p:cNvPicPr>
          <p:nvPr/>
        </p:nvPicPr>
        <p:blipFill>
          <a:blip r:embed="rId2"/>
          <a:stretch>
            <a:fillRect/>
          </a:stretch>
        </p:blipFill>
        <p:spPr>
          <a:xfrm>
            <a:off x="457200" y="1280160"/>
            <a:ext cx="7909560" cy="4745736"/>
          </a:xfrm>
          <a:prstGeom prst="rect">
            <a:avLst/>
          </a:prstGeom>
        </p:spPr>
      </p:pic>
      <p:sp>
        <p:nvSpPr>
          <p:cNvPr id="9" name="Oval 8"/>
          <p:cNvSpPr/>
          <p:nvPr/>
        </p:nvSpPr>
        <p:spPr>
          <a:xfrm>
            <a:off x="667512" y="1691640"/>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696212"/>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11" name="Oval 10"/>
          <p:cNvSpPr/>
          <p:nvPr/>
        </p:nvSpPr>
        <p:spPr>
          <a:xfrm>
            <a:off x="768096" y="3950208"/>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954780"/>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13" name="Oval 12"/>
          <p:cNvSpPr/>
          <p:nvPr/>
        </p:nvSpPr>
        <p:spPr>
          <a:xfrm>
            <a:off x="3968496" y="3200400"/>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68496" y="3204972"/>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15" name="Oval 14"/>
          <p:cNvSpPr/>
          <p:nvPr/>
        </p:nvSpPr>
        <p:spPr>
          <a:xfrm>
            <a:off x="7552944" y="2788920"/>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52944" y="2793491"/>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4</a:t>
            </a:r>
          </a:p>
        </p:txBody>
      </p:sp>
      <p:sp>
        <p:nvSpPr>
          <p:cNvPr id="17" name="Oval 16"/>
          <p:cNvSpPr/>
          <p:nvPr/>
        </p:nvSpPr>
        <p:spPr>
          <a:xfrm>
            <a:off x="804672" y="4828032"/>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832604"/>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5</a:t>
            </a:r>
          </a:p>
        </p:txBody>
      </p:sp>
      <p:sp>
        <p:nvSpPr>
          <p:cNvPr id="19" name="Rounded Rectangle 18"/>
          <p:cNvSpPr/>
          <p:nvPr/>
        </p:nvSpPr>
        <p:spPr>
          <a:xfrm>
            <a:off x="8577072" y="1280160"/>
            <a:ext cx="3154680" cy="4745736"/>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0" y="1517904"/>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1522475"/>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22" name="TextBox 21"/>
          <p:cNvSpPr txBox="1"/>
          <p:nvPr/>
        </p:nvSpPr>
        <p:spPr>
          <a:xfrm>
            <a:off x="9208008" y="1508760"/>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Breathing inputs</a:t>
            </a:r>
          </a:p>
        </p:txBody>
      </p:sp>
      <p:sp>
        <p:nvSpPr>
          <p:cNvPr id="23" name="TextBox 22"/>
          <p:cNvSpPr txBox="1"/>
          <p:nvPr/>
        </p:nvSpPr>
        <p:spPr>
          <a:xfrm>
            <a:off x="9208008" y="1783080"/>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Rate, tidal volume, I:E, flow and cycle count.</a:t>
            </a:r>
          </a:p>
        </p:txBody>
      </p:sp>
      <p:sp>
        <p:nvSpPr>
          <p:cNvPr id="24" name="Oval 23"/>
          <p:cNvSpPr/>
          <p:nvPr/>
        </p:nvSpPr>
        <p:spPr>
          <a:xfrm>
            <a:off x="8778240" y="2395728"/>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0" y="2400300"/>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26" name="TextBox 25"/>
          <p:cNvSpPr txBox="1"/>
          <p:nvPr/>
        </p:nvSpPr>
        <p:spPr>
          <a:xfrm>
            <a:off x="9208008" y="2386584"/>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Apply &amp; playback</a:t>
            </a:r>
          </a:p>
        </p:txBody>
      </p:sp>
      <p:sp>
        <p:nvSpPr>
          <p:cNvPr id="27" name="TextBox 26"/>
          <p:cNvSpPr txBox="1"/>
          <p:nvPr/>
        </p:nvSpPr>
        <p:spPr>
          <a:xfrm>
            <a:off x="9208008" y="2660904"/>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Recalculate, then start, pause, reset or stop.</a:t>
            </a:r>
          </a:p>
        </p:txBody>
      </p:sp>
      <p:sp>
        <p:nvSpPr>
          <p:cNvPr id="28" name="Oval 27"/>
          <p:cNvSpPr/>
          <p:nvPr/>
        </p:nvSpPr>
        <p:spPr>
          <a:xfrm>
            <a:off x="8778240" y="3273552"/>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3278124"/>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30" name="TextBox 29"/>
          <p:cNvSpPr txBox="1"/>
          <p:nvPr/>
        </p:nvSpPr>
        <p:spPr>
          <a:xfrm>
            <a:off x="9208008" y="3264408"/>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Pneumatic state</a:t>
            </a:r>
          </a:p>
        </p:txBody>
      </p:sp>
      <p:sp>
        <p:nvSpPr>
          <p:cNvPr id="31" name="TextBox 30"/>
          <p:cNvSpPr txBox="1"/>
          <p:nvPr/>
        </p:nvSpPr>
        <p:spPr>
          <a:xfrm>
            <a:off x="9208008" y="3538728"/>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ATM/VAC route, PPV opening, phase, flow and volume.</a:t>
            </a:r>
          </a:p>
        </p:txBody>
      </p:sp>
      <p:sp>
        <p:nvSpPr>
          <p:cNvPr id="32" name="Oval 31"/>
          <p:cNvSpPr/>
          <p:nvPr/>
        </p:nvSpPr>
        <p:spPr>
          <a:xfrm>
            <a:off x="8778240" y="4151376"/>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0" y="4155948"/>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4</a:t>
            </a:r>
          </a:p>
        </p:txBody>
      </p:sp>
      <p:sp>
        <p:nvSpPr>
          <p:cNvPr id="34" name="TextBox 33"/>
          <p:cNvSpPr txBox="1"/>
          <p:nvPr/>
        </p:nvSpPr>
        <p:spPr>
          <a:xfrm>
            <a:off x="9208008" y="4142232"/>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Live flow</a:t>
            </a:r>
          </a:p>
        </p:txBody>
      </p:sp>
      <p:sp>
        <p:nvSpPr>
          <p:cNvPr id="35" name="TextBox 34"/>
          <p:cNvSpPr txBox="1"/>
          <p:nvPr/>
        </p:nvSpPr>
        <p:spPr>
          <a:xfrm>
            <a:off x="9208008" y="4416552"/>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Measured model output against the flat setpoint.</a:t>
            </a:r>
          </a:p>
        </p:txBody>
      </p:sp>
      <p:sp>
        <p:nvSpPr>
          <p:cNvPr id="36" name="Oval 35"/>
          <p:cNvSpPr/>
          <p:nvPr/>
        </p:nvSpPr>
        <p:spPr>
          <a:xfrm>
            <a:off x="8778240" y="5029200"/>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5033772"/>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5</a:t>
            </a:r>
          </a:p>
        </p:txBody>
      </p:sp>
      <p:sp>
        <p:nvSpPr>
          <p:cNvPr id="38" name="TextBox 37"/>
          <p:cNvSpPr txBox="1"/>
          <p:nvPr/>
        </p:nvSpPr>
        <p:spPr>
          <a:xfrm>
            <a:off x="9208008" y="5020056"/>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Outcome</a:t>
            </a:r>
          </a:p>
        </p:txBody>
      </p:sp>
      <p:sp>
        <p:nvSpPr>
          <p:cNvPr id="39" name="TextBox 38"/>
          <p:cNvSpPr txBox="1"/>
          <p:nvPr/>
        </p:nvSpPr>
        <p:spPr>
          <a:xfrm>
            <a:off x="9208008" y="5294376"/>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Current frame plus last-breath volume versus target.</a:t>
            </a:r>
          </a:p>
        </p:txBody>
      </p:sp>
      <p:sp>
        <p:nvSpPr>
          <p:cNvPr id="40" name="TextBox 39"/>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Figure: current single_lung_pid_gui.py User Mode; displayed values are simulated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2 — UI WALKTHROUGH</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Developer Mode: expose assumptions and diagnose why a case passes</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A passing volume is interpreted together with flow tracking, saturation, timing and valve state.</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5</a:t>
            </a:r>
          </a:p>
        </p:txBody>
      </p:sp>
      <p:pic>
        <p:nvPicPr>
          <p:cNvPr id="8" name="Picture 7" descr="ui_developer_mode.png"/>
          <p:cNvPicPr>
            <a:picLocks noChangeAspect="1"/>
          </p:cNvPicPr>
          <p:nvPr/>
        </p:nvPicPr>
        <p:blipFill>
          <a:blip r:embed="rId2"/>
          <a:stretch>
            <a:fillRect/>
          </a:stretch>
        </p:blipFill>
        <p:spPr>
          <a:xfrm>
            <a:off x="457200" y="1280160"/>
            <a:ext cx="7909560" cy="4745736"/>
          </a:xfrm>
          <a:prstGeom prst="rect">
            <a:avLst/>
          </a:prstGeom>
        </p:spPr>
      </p:pic>
      <p:sp>
        <p:nvSpPr>
          <p:cNvPr id="9" name="Oval 8"/>
          <p:cNvSpPr/>
          <p:nvPr/>
        </p:nvSpPr>
        <p:spPr>
          <a:xfrm>
            <a:off x="694944" y="1792224"/>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1796795"/>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11" name="Oval 10"/>
          <p:cNvSpPr/>
          <p:nvPr/>
        </p:nvSpPr>
        <p:spPr>
          <a:xfrm>
            <a:off x="694944" y="4398264"/>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402836"/>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13" name="Oval 12"/>
          <p:cNvSpPr/>
          <p:nvPr/>
        </p:nvSpPr>
        <p:spPr>
          <a:xfrm>
            <a:off x="5751576" y="1545336"/>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51576" y="1549907"/>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15" name="Oval 14"/>
          <p:cNvSpPr/>
          <p:nvPr/>
        </p:nvSpPr>
        <p:spPr>
          <a:xfrm>
            <a:off x="5788152" y="3044952"/>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88152" y="3049524"/>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4</a:t>
            </a:r>
          </a:p>
        </p:txBody>
      </p:sp>
      <p:sp>
        <p:nvSpPr>
          <p:cNvPr id="17" name="Oval 16"/>
          <p:cNvSpPr/>
          <p:nvPr/>
        </p:nvSpPr>
        <p:spPr>
          <a:xfrm>
            <a:off x="5788152" y="4645152"/>
            <a:ext cx="329184" cy="329184"/>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88152" y="4649724"/>
            <a:ext cx="329184" cy="32004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5</a:t>
            </a:r>
          </a:p>
        </p:txBody>
      </p:sp>
      <p:sp>
        <p:nvSpPr>
          <p:cNvPr id="19" name="Rounded Rectangle 18"/>
          <p:cNvSpPr/>
          <p:nvPr/>
        </p:nvSpPr>
        <p:spPr>
          <a:xfrm>
            <a:off x="8577072" y="1280160"/>
            <a:ext cx="3154680" cy="4745736"/>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0" y="1517904"/>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1522475"/>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22" name="TextBox 21"/>
          <p:cNvSpPr txBox="1"/>
          <p:nvPr/>
        </p:nvSpPr>
        <p:spPr>
          <a:xfrm>
            <a:off x="9208008" y="1508760"/>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Test definition</a:t>
            </a:r>
          </a:p>
        </p:txBody>
      </p:sp>
      <p:sp>
        <p:nvSpPr>
          <p:cNvPr id="23" name="TextBox 22"/>
          <p:cNvSpPr txBox="1"/>
          <p:nvPr/>
        </p:nvSpPr>
        <p:spPr>
          <a:xfrm>
            <a:off x="9208008" y="1783080"/>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Breathing timing, target volume and run length.</a:t>
            </a:r>
          </a:p>
        </p:txBody>
      </p:sp>
      <p:sp>
        <p:nvSpPr>
          <p:cNvPr id="24" name="Oval 23"/>
          <p:cNvSpPr/>
          <p:nvPr/>
        </p:nvSpPr>
        <p:spPr>
          <a:xfrm>
            <a:off x="8778240" y="2395728"/>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0" y="2400300"/>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26" name="TextBox 25"/>
          <p:cNvSpPr txBox="1"/>
          <p:nvPr/>
        </p:nvSpPr>
        <p:spPr>
          <a:xfrm>
            <a:off x="9208008" y="2386584"/>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Controller options</a:t>
            </a:r>
          </a:p>
        </p:txBody>
      </p:sp>
      <p:sp>
        <p:nvSpPr>
          <p:cNvPr id="27" name="TextBox 26"/>
          <p:cNvSpPr txBox="1"/>
          <p:nvPr/>
        </p:nvSpPr>
        <p:spPr>
          <a:xfrm>
            <a:off x="9208008" y="2660904"/>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PID, feedforward, Smith prediction and volume guard.</a:t>
            </a:r>
          </a:p>
        </p:txBody>
      </p:sp>
      <p:sp>
        <p:nvSpPr>
          <p:cNvPr id="28" name="Oval 27"/>
          <p:cNvSpPr/>
          <p:nvPr/>
        </p:nvSpPr>
        <p:spPr>
          <a:xfrm>
            <a:off x="8778240" y="3273552"/>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3278124"/>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30" name="TextBox 29"/>
          <p:cNvSpPr txBox="1"/>
          <p:nvPr/>
        </p:nvSpPr>
        <p:spPr>
          <a:xfrm>
            <a:off x="9208008" y="3264408"/>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Volume evidence</a:t>
            </a:r>
          </a:p>
        </p:txBody>
      </p:sp>
      <p:sp>
        <p:nvSpPr>
          <p:cNvPr id="31" name="TextBox 30"/>
          <p:cNvSpPr txBox="1"/>
          <p:nvPr/>
        </p:nvSpPr>
        <p:spPr>
          <a:xfrm>
            <a:off x="9208008" y="3538728"/>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True model volume and target over repeated breaths.</a:t>
            </a:r>
          </a:p>
        </p:txBody>
      </p:sp>
      <p:sp>
        <p:nvSpPr>
          <p:cNvPr id="32" name="Oval 31"/>
          <p:cNvSpPr/>
          <p:nvPr/>
        </p:nvSpPr>
        <p:spPr>
          <a:xfrm>
            <a:off x="8778240" y="4151376"/>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0" y="4155948"/>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4</a:t>
            </a:r>
          </a:p>
        </p:txBody>
      </p:sp>
      <p:sp>
        <p:nvSpPr>
          <p:cNvPr id="34" name="TextBox 33"/>
          <p:cNvSpPr txBox="1"/>
          <p:nvPr/>
        </p:nvSpPr>
        <p:spPr>
          <a:xfrm>
            <a:off x="9208008" y="4142232"/>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Flow evidence</a:t>
            </a:r>
          </a:p>
        </p:txBody>
      </p:sp>
      <p:sp>
        <p:nvSpPr>
          <p:cNvPr id="35" name="TextBox 34"/>
          <p:cNvSpPr txBox="1"/>
          <p:nvPr/>
        </p:nvSpPr>
        <p:spPr>
          <a:xfrm>
            <a:off x="9208008" y="4416552"/>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Sensor-model flow reveals overshoot and missed setpoints.</a:t>
            </a:r>
          </a:p>
        </p:txBody>
      </p:sp>
      <p:sp>
        <p:nvSpPr>
          <p:cNvPr id="36" name="Oval 35"/>
          <p:cNvSpPr/>
          <p:nvPr/>
        </p:nvSpPr>
        <p:spPr>
          <a:xfrm>
            <a:off x="8778240" y="5029200"/>
            <a:ext cx="310896" cy="310896"/>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5033772"/>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5</a:t>
            </a:r>
          </a:p>
        </p:txBody>
      </p:sp>
      <p:sp>
        <p:nvSpPr>
          <p:cNvPr id="38" name="TextBox 37"/>
          <p:cNvSpPr txBox="1"/>
          <p:nvPr/>
        </p:nvSpPr>
        <p:spPr>
          <a:xfrm>
            <a:off x="9208008" y="5020056"/>
            <a:ext cx="2148840" cy="246888"/>
          </a:xfrm>
          <a:prstGeom prst="rect">
            <a:avLst/>
          </a:prstGeom>
          <a:noFill/>
        </p:spPr>
        <p:txBody>
          <a:bodyPr wrap="square" lIns="27432" rIns="27432" tIns="18288" bIns="18288" anchor="t">
            <a:spAutoFit/>
          </a:bodyPr>
          <a:lstStyle/>
          <a:p>
            <a:pPr algn="l">
              <a:spcAft>
                <a:spcPts val="300"/>
              </a:spcAft>
              <a:defRPr sz="1250" b="1">
                <a:solidFill>
                  <a:srgbClr val="142B42"/>
                </a:solidFill>
                <a:latin typeface="Aptos"/>
              </a:defRPr>
            </a:pPr>
            <a:r>
              <a:t>Actuation &amp; state</a:t>
            </a:r>
          </a:p>
        </p:txBody>
      </p:sp>
      <p:sp>
        <p:nvSpPr>
          <p:cNvPr id="39" name="TextBox 38"/>
          <p:cNvSpPr txBox="1"/>
          <p:nvPr/>
        </p:nvSpPr>
        <p:spPr>
          <a:xfrm>
            <a:off x="9208008" y="5294376"/>
            <a:ext cx="2148840" cy="530352"/>
          </a:xfrm>
          <a:prstGeom prst="rect">
            <a:avLst/>
          </a:prstGeom>
          <a:noFill/>
        </p:spPr>
        <p:txBody>
          <a:bodyPr wrap="square" lIns="27432" rIns="27432" tIns="18288" bIns="18288" anchor="t">
            <a:spAutoFit/>
          </a:bodyPr>
          <a:lstStyle/>
          <a:p>
            <a:pPr algn="l">
              <a:spcAft>
                <a:spcPts val="300"/>
              </a:spcAft>
              <a:defRPr sz="1050" b="0">
                <a:solidFill>
                  <a:srgbClr val="5B6975"/>
                </a:solidFill>
                <a:latin typeface="Aptos"/>
              </a:defRPr>
            </a:pPr>
            <a:r>
              <a:t>PPV opening, DAC command, route and phase timing.</a:t>
            </a:r>
          </a:p>
        </p:txBody>
      </p:sp>
      <p:sp>
        <p:nvSpPr>
          <p:cNvPr id="40" name="TextBox 39"/>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Figure: current single_lung_pid_gui.py Developer Mode; displayed values are simulated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1051560"/>
            <a:ext cx="1097280" cy="822960"/>
          </a:xfrm>
          <a:prstGeom prst="rect">
            <a:avLst/>
          </a:prstGeom>
          <a:noFill/>
        </p:spPr>
        <p:txBody>
          <a:bodyPr wrap="square" lIns="27432" rIns="27432" tIns="18288" bIns="18288" anchor="t">
            <a:spAutoFit/>
          </a:bodyPr>
          <a:lstStyle/>
          <a:p>
            <a:pPr algn="l">
              <a:spcAft>
                <a:spcPts val="300"/>
              </a:spcAft>
              <a:defRPr sz="3400" b="1">
                <a:solidFill>
                  <a:srgbClr val="008991"/>
                </a:solidFill>
                <a:latin typeface="Aptos"/>
              </a:defRPr>
            </a:pPr>
            <a:r>
              <a:t>03</a:t>
            </a:r>
          </a:p>
        </p:txBody>
      </p:sp>
      <p:sp>
        <p:nvSpPr>
          <p:cNvPr id="4" name="TextBox 3"/>
          <p:cNvSpPr txBox="1"/>
          <p:nvPr/>
        </p:nvSpPr>
        <p:spPr>
          <a:xfrm>
            <a:off x="2039112" y="1170432"/>
            <a:ext cx="8778240" cy="731520"/>
          </a:xfrm>
          <a:prstGeom prst="rect">
            <a:avLst/>
          </a:prstGeom>
          <a:noFill/>
        </p:spPr>
        <p:txBody>
          <a:bodyPr wrap="square" lIns="27432" rIns="27432" tIns="18288" bIns="18288" anchor="t">
            <a:spAutoFit/>
          </a:bodyPr>
          <a:lstStyle/>
          <a:p>
            <a:pPr algn="l">
              <a:spcAft>
                <a:spcPts val="300"/>
              </a:spcAft>
              <a:defRPr sz="3100" b="1">
                <a:solidFill>
                  <a:srgbClr val="FFFFFF"/>
                </a:solidFill>
                <a:latin typeface="Aptos"/>
              </a:defRPr>
            </a:pPr>
            <a:r>
              <a:t>Current status</a:t>
            </a:r>
          </a:p>
        </p:txBody>
      </p:sp>
      <p:cxnSp>
        <p:nvCxnSpPr>
          <p:cNvPr id="5" name="Connector 4"/>
          <p:cNvCxnSpPr/>
          <p:nvPr/>
        </p:nvCxnSpPr>
        <p:spPr>
          <a:xfrm>
            <a:off x="2039112" y="2157984"/>
            <a:ext cx="8842248" cy="0"/>
          </a:xfrm>
          <a:prstGeom prst="line">
            <a:avLst/>
          </a:prstGeom>
          <a:ln w="17780">
            <a:solidFill>
              <a:srgbClr val="4B687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039112" y="2505456"/>
            <a:ext cx="8686800" cy="1143000"/>
          </a:xfrm>
          <a:prstGeom prst="rect">
            <a:avLst/>
          </a:prstGeom>
          <a:noFill/>
        </p:spPr>
        <p:txBody>
          <a:bodyPr wrap="square" lIns="27432" rIns="27432" tIns="18288" bIns="18288" anchor="ctr">
            <a:spAutoFit/>
          </a:bodyPr>
          <a:lstStyle/>
          <a:p>
            <a:pPr algn="l">
              <a:spcAft>
                <a:spcPts val="300"/>
              </a:spcAft>
              <a:defRPr sz="2000" b="0">
                <a:solidFill>
                  <a:srgbClr val="CCDCE7"/>
                </a:solidFill>
                <a:latin typeface="Aptos"/>
              </a:defRPr>
            </a:pPr>
            <a:r>
              <a:t>What is implemented, what the 30-cycle study shows, and why the nominal 15 bpm case still needs a requirements decision.</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A0B6C6"/>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3 — CURRENT STATUS</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The UI is implemented; the physical closed loop is not yet verified</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Use the UI today for simulation, requirement discussion and experiment planning—not hardware acceptance.</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7</a:t>
            </a:r>
          </a:p>
        </p:txBody>
      </p:sp>
      <p:sp>
        <p:nvSpPr>
          <p:cNvPr id="8" name="Rounded Rectangle 7"/>
          <p:cNvSpPr/>
          <p:nvPr/>
        </p:nvSpPr>
        <p:spPr>
          <a:xfrm>
            <a:off x="566928" y="1353312"/>
            <a:ext cx="5358384" cy="4498848"/>
          </a:xfrm>
          <a:prstGeom prst="roundRect">
            <a:avLst/>
          </a:prstGeom>
          <a:solidFill>
            <a:srgbClr val="E2F5F5"/>
          </a:solidFill>
          <a:ln w="12700">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18488"/>
            <a:ext cx="2103120" cy="283464"/>
          </a:xfrm>
          <a:prstGeom prst="rect">
            <a:avLst/>
          </a:prstGeom>
          <a:noFill/>
        </p:spPr>
        <p:txBody>
          <a:bodyPr wrap="square" lIns="27432" rIns="27432" tIns="18288" bIns="18288" anchor="t">
            <a:spAutoFit/>
          </a:bodyPr>
          <a:lstStyle/>
          <a:p>
            <a:pPr algn="l">
              <a:spcAft>
                <a:spcPts val="300"/>
              </a:spcAft>
              <a:defRPr sz="1200" b="1">
                <a:solidFill>
                  <a:srgbClr val="008991"/>
                </a:solidFill>
                <a:latin typeface="Aptos"/>
              </a:defRPr>
            </a:pPr>
            <a:r>
              <a:t>AVAILABLE NOW</a:t>
            </a:r>
          </a:p>
        </p:txBody>
      </p:sp>
      <p:sp>
        <p:nvSpPr>
          <p:cNvPr id="10" name="Oval 9"/>
          <p:cNvSpPr/>
          <p:nvPr/>
        </p:nvSpPr>
        <p:spPr>
          <a:xfrm>
            <a:off x="859536" y="2139696"/>
            <a:ext cx="283464" cy="283464"/>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44268"/>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12" name="TextBox 11"/>
          <p:cNvSpPr txBox="1"/>
          <p:nvPr/>
        </p:nvSpPr>
        <p:spPr>
          <a:xfrm>
            <a:off x="1280160" y="2148839"/>
            <a:ext cx="4233672"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User and Developer workflows</a:t>
            </a:r>
          </a:p>
        </p:txBody>
      </p:sp>
      <p:sp>
        <p:nvSpPr>
          <p:cNvPr id="13" name="Oval 12"/>
          <p:cNvSpPr/>
          <p:nvPr/>
        </p:nvSpPr>
        <p:spPr>
          <a:xfrm>
            <a:off x="859536" y="2770632"/>
            <a:ext cx="283464" cy="283464"/>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775203"/>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15" name="TextBox 14"/>
          <p:cNvSpPr txBox="1"/>
          <p:nvPr/>
        </p:nvSpPr>
        <p:spPr>
          <a:xfrm>
            <a:off x="1280160" y="2779775"/>
            <a:ext cx="4233672"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Input checks and timing warnings</a:t>
            </a:r>
          </a:p>
        </p:txBody>
      </p:sp>
      <p:sp>
        <p:nvSpPr>
          <p:cNvPr id="16" name="Oval 15"/>
          <p:cNvSpPr/>
          <p:nvPr/>
        </p:nvSpPr>
        <p:spPr>
          <a:xfrm>
            <a:off x="859536" y="3401568"/>
            <a:ext cx="283464" cy="283464"/>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406139"/>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18" name="TextBox 17"/>
          <p:cNvSpPr txBox="1"/>
          <p:nvPr/>
        </p:nvSpPr>
        <p:spPr>
          <a:xfrm>
            <a:off x="1280160" y="3410711"/>
            <a:ext cx="4233672"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Flow, volume, command and state plots</a:t>
            </a:r>
          </a:p>
        </p:txBody>
      </p:sp>
      <p:sp>
        <p:nvSpPr>
          <p:cNvPr id="19" name="Oval 18"/>
          <p:cNvSpPr/>
          <p:nvPr/>
        </p:nvSpPr>
        <p:spPr>
          <a:xfrm>
            <a:off x="859536" y="4032504"/>
            <a:ext cx="283464" cy="283464"/>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037076"/>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21" name="TextBox 20"/>
          <p:cNvSpPr txBox="1"/>
          <p:nvPr/>
        </p:nvSpPr>
        <p:spPr>
          <a:xfrm>
            <a:off x="1280160" y="4041648"/>
            <a:ext cx="4233672" cy="310896"/>
          </a:xfrm>
          <a:prstGeom prst="rect">
            <a:avLst/>
          </a:prstGeom>
          <a:noFill/>
        </p:spPr>
        <p:txBody>
          <a:bodyPr wrap="square" lIns="27432" rIns="27432" tIns="18288" bIns="18288" anchor="t">
            <a:spAutoFit/>
          </a:bodyPr>
          <a:lstStyle/>
          <a:p>
            <a:pPr algn="l">
              <a:spcAft>
                <a:spcPts val="300"/>
              </a:spcAft>
              <a:defRPr sz="1600" b="1">
                <a:solidFill>
                  <a:srgbClr val="142B42"/>
                </a:solidFill>
                <a:latin typeface="Aptos"/>
              </a:defRPr>
            </a:pPr>
            <a:r>
              <a:t>Repeatable 30-cycle simulation studies</a:t>
            </a:r>
          </a:p>
        </p:txBody>
      </p:sp>
      <p:sp>
        <p:nvSpPr>
          <p:cNvPr id="22" name="Oval 21"/>
          <p:cNvSpPr/>
          <p:nvPr/>
        </p:nvSpPr>
        <p:spPr>
          <a:xfrm>
            <a:off x="859536" y="4663440"/>
            <a:ext cx="283464" cy="283464"/>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668012"/>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24" name="TextBox 23"/>
          <p:cNvSpPr txBox="1"/>
          <p:nvPr/>
        </p:nvSpPr>
        <p:spPr>
          <a:xfrm>
            <a:off x="1280160" y="4672583"/>
            <a:ext cx="4233672"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Saved configuration and playback</a:t>
            </a:r>
          </a:p>
        </p:txBody>
      </p:sp>
      <p:sp>
        <p:nvSpPr>
          <p:cNvPr id="25" name="Rounded Rectangle 24"/>
          <p:cNvSpPr/>
          <p:nvPr/>
        </p:nvSpPr>
        <p:spPr>
          <a:xfrm>
            <a:off x="6236208" y="1353312"/>
            <a:ext cx="5358384" cy="4498848"/>
          </a:xfrm>
          <a:prstGeom prst="roundRect">
            <a:avLst/>
          </a:prstGeom>
          <a:solidFill>
            <a:srgbClr val="FFF1E2"/>
          </a:solidFill>
          <a:ln w="12700">
            <a:solidFill>
              <a:srgbClr val="E57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28816" y="1618488"/>
            <a:ext cx="2926080" cy="283464"/>
          </a:xfrm>
          <a:prstGeom prst="rect">
            <a:avLst/>
          </a:prstGeom>
          <a:noFill/>
        </p:spPr>
        <p:txBody>
          <a:bodyPr wrap="square" lIns="27432" rIns="27432" tIns="18288" bIns="18288" anchor="t">
            <a:spAutoFit/>
          </a:bodyPr>
          <a:lstStyle/>
          <a:p>
            <a:pPr algn="l">
              <a:spcAft>
                <a:spcPts val="300"/>
              </a:spcAft>
              <a:defRPr sz="1200" b="1">
                <a:solidFill>
                  <a:srgbClr val="E57E31"/>
                </a:solidFill>
                <a:latin typeface="Aptos"/>
              </a:defRPr>
            </a:pPr>
            <a:r>
              <a:t>NOT YET DEMONSTRATED</a:t>
            </a:r>
          </a:p>
        </p:txBody>
      </p:sp>
      <p:sp>
        <p:nvSpPr>
          <p:cNvPr id="27" name="Oval 26"/>
          <p:cNvSpPr/>
          <p:nvPr/>
        </p:nvSpPr>
        <p:spPr>
          <a:xfrm>
            <a:off x="6528816" y="2139696"/>
            <a:ext cx="283464" cy="283464"/>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2144268"/>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29" name="TextBox 28"/>
          <p:cNvSpPr txBox="1"/>
          <p:nvPr/>
        </p:nvSpPr>
        <p:spPr>
          <a:xfrm>
            <a:off x="6949440" y="2148839"/>
            <a:ext cx="4270248"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Physical PPV actuation from this controller</a:t>
            </a:r>
          </a:p>
        </p:txBody>
      </p:sp>
      <p:sp>
        <p:nvSpPr>
          <p:cNvPr id="30" name="Oval 29"/>
          <p:cNvSpPr/>
          <p:nvPr/>
        </p:nvSpPr>
        <p:spPr>
          <a:xfrm>
            <a:off x="6528816" y="2770632"/>
            <a:ext cx="283464" cy="283464"/>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28816" y="2775203"/>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32" name="TextBox 31"/>
          <p:cNvSpPr txBox="1"/>
          <p:nvPr/>
        </p:nvSpPr>
        <p:spPr>
          <a:xfrm>
            <a:off x="6949440" y="2779775"/>
            <a:ext cx="4270248"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SFM3300 feedback used by the PID</a:t>
            </a:r>
          </a:p>
        </p:txBody>
      </p:sp>
      <p:sp>
        <p:nvSpPr>
          <p:cNvPr id="33" name="Oval 32"/>
          <p:cNvSpPr/>
          <p:nvPr/>
        </p:nvSpPr>
        <p:spPr>
          <a:xfrm>
            <a:off x="6528816" y="3401568"/>
            <a:ext cx="283464" cy="283464"/>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28816" y="3406139"/>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35" name="TextBox 34"/>
          <p:cNvSpPr txBox="1"/>
          <p:nvPr/>
        </p:nvSpPr>
        <p:spPr>
          <a:xfrm>
            <a:off x="6949440" y="3410711"/>
            <a:ext cx="4270248"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Synchronized pressure acquisition</a:t>
            </a:r>
          </a:p>
        </p:txBody>
      </p:sp>
      <p:sp>
        <p:nvSpPr>
          <p:cNvPr id="36" name="Oval 35"/>
          <p:cNvSpPr/>
          <p:nvPr/>
        </p:nvSpPr>
        <p:spPr>
          <a:xfrm>
            <a:off x="6528816" y="4032504"/>
            <a:ext cx="283464" cy="283464"/>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28816" y="4037076"/>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38" name="TextBox 37"/>
          <p:cNvSpPr txBox="1"/>
          <p:nvPr/>
        </p:nvSpPr>
        <p:spPr>
          <a:xfrm>
            <a:off x="6949440" y="4041648"/>
            <a:ext cx="4270248"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30-cycle hardware repeatability</a:t>
            </a:r>
          </a:p>
        </p:txBody>
      </p:sp>
      <p:sp>
        <p:nvSpPr>
          <p:cNvPr id="39" name="Oval 38"/>
          <p:cNvSpPr/>
          <p:nvPr/>
        </p:nvSpPr>
        <p:spPr>
          <a:xfrm>
            <a:off x="6528816" y="4663440"/>
            <a:ext cx="283464" cy="283464"/>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28816" y="4668012"/>
            <a:ext cx="283464" cy="274320"/>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41" name="TextBox 40"/>
          <p:cNvSpPr txBox="1"/>
          <p:nvPr/>
        </p:nvSpPr>
        <p:spPr>
          <a:xfrm>
            <a:off x="6949440" y="4672583"/>
            <a:ext cx="4270248" cy="310896"/>
          </a:xfrm>
          <a:prstGeom prst="rect">
            <a:avLst/>
          </a:prstGeom>
          <a:noFill/>
        </p:spPr>
        <p:txBody>
          <a:bodyPr wrap="square" lIns="27432" rIns="27432" tIns="18288" bIns="18288" anchor="t">
            <a:spAutoFit/>
          </a:bodyPr>
          <a:lstStyle/>
          <a:p>
            <a:pPr algn="l">
              <a:spcAft>
                <a:spcPts val="300"/>
              </a:spcAft>
              <a:defRPr sz="1600" b="0">
                <a:solidFill>
                  <a:srgbClr val="142B42"/>
                </a:solidFill>
                <a:latin typeface="Aptos"/>
              </a:defRPr>
            </a:pPr>
            <a:r>
              <a:t>Independent two-branch operation</a:t>
            </a:r>
          </a:p>
        </p:txBody>
      </p:sp>
      <p:sp>
        <p:nvSpPr>
          <p:cNvPr id="42" name="TextBox 41"/>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Evidence: source code, STM32 demo scope, PROTOTYPE_REQUIREMENTS.md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3 — CURRENT STATUS</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At 15 bpm, thirty simulated breaths pass with almost no margin</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This is a model result under stated assumptions, not evidence of installed-path performance.</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8</a:t>
            </a:r>
          </a:p>
        </p:txBody>
      </p:sp>
      <p:sp>
        <p:nvSpPr>
          <p:cNvPr id="8" name="Rounded Rectangle 7"/>
          <p:cNvSpPr/>
          <p:nvPr/>
        </p:nvSpPr>
        <p:spPr>
          <a:xfrm>
            <a:off x="566928" y="1335024"/>
            <a:ext cx="7662672" cy="4498848"/>
          </a:xfrm>
          <a:prstGeom prst="roundRect">
            <a:avLst/>
          </a:prstGeom>
          <a:solidFill>
            <a:srgbClr val="FFFFFF"/>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2057400" y="1773936"/>
            <a:ext cx="0" cy="3511296"/>
          </a:xfrm>
          <a:prstGeom prst="line">
            <a:avLst/>
          </a:prstGeom>
          <a:ln w="10160">
            <a:solidFill>
              <a:srgbClr val="D8E0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783080" y="5358384"/>
            <a:ext cx="548640" cy="228600"/>
          </a:xfrm>
          <a:prstGeom prst="rect">
            <a:avLst/>
          </a:prstGeom>
          <a:noFill/>
        </p:spPr>
        <p:txBody>
          <a:bodyPr wrap="square" lIns="27432" rIns="27432" tIns="18288" bIns="18288" anchor="t">
            <a:spAutoFit/>
          </a:bodyPr>
          <a:lstStyle/>
          <a:p>
            <a:pPr algn="ctr">
              <a:spcAft>
                <a:spcPts val="300"/>
              </a:spcAft>
              <a:defRPr sz="950" b="0">
                <a:solidFill>
                  <a:srgbClr val="5B6975"/>
                </a:solidFill>
                <a:latin typeface="Aptos"/>
              </a:defRPr>
            </a:pPr>
            <a:r>
              <a:t>220</a:t>
            </a:r>
          </a:p>
        </p:txBody>
      </p:sp>
      <p:cxnSp>
        <p:nvCxnSpPr>
          <p:cNvPr id="11" name="Connector 10"/>
          <p:cNvCxnSpPr/>
          <p:nvPr/>
        </p:nvCxnSpPr>
        <p:spPr>
          <a:xfrm>
            <a:off x="3820477" y="1773936"/>
            <a:ext cx="0" cy="3511296"/>
          </a:xfrm>
          <a:prstGeom prst="line">
            <a:avLst/>
          </a:prstGeom>
          <a:ln w="10160">
            <a:solidFill>
              <a:srgbClr val="D8E0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546157" y="5358384"/>
            <a:ext cx="548640" cy="228600"/>
          </a:xfrm>
          <a:prstGeom prst="rect">
            <a:avLst/>
          </a:prstGeom>
          <a:noFill/>
        </p:spPr>
        <p:txBody>
          <a:bodyPr wrap="square" lIns="27432" rIns="27432" tIns="18288" bIns="18288" anchor="t">
            <a:spAutoFit/>
          </a:bodyPr>
          <a:lstStyle/>
          <a:p>
            <a:pPr algn="ctr">
              <a:spcAft>
                <a:spcPts val="300"/>
              </a:spcAft>
              <a:defRPr sz="950" b="0">
                <a:solidFill>
                  <a:srgbClr val="5B6975"/>
                </a:solidFill>
                <a:latin typeface="Aptos"/>
              </a:defRPr>
            </a:pPr>
            <a:r>
              <a:t>230</a:t>
            </a:r>
          </a:p>
        </p:txBody>
      </p:sp>
      <p:cxnSp>
        <p:nvCxnSpPr>
          <p:cNvPr id="13" name="Connector 12"/>
          <p:cNvCxnSpPr/>
          <p:nvPr/>
        </p:nvCxnSpPr>
        <p:spPr>
          <a:xfrm>
            <a:off x="5142785" y="1773936"/>
            <a:ext cx="0" cy="3511296"/>
          </a:xfrm>
          <a:prstGeom prst="line">
            <a:avLst/>
          </a:prstGeom>
          <a:ln w="22860">
            <a:solidFill>
              <a:srgbClr val="C044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868465" y="5358384"/>
            <a:ext cx="548640" cy="228600"/>
          </a:xfrm>
          <a:prstGeom prst="rect">
            <a:avLst/>
          </a:prstGeom>
          <a:noFill/>
        </p:spPr>
        <p:txBody>
          <a:bodyPr wrap="square" lIns="27432" rIns="27432" tIns="18288" bIns="18288" anchor="t">
            <a:spAutoFit/>
          </a:bodyPr>
          <a:lstStyle/>
          <a:p>
            <a:pPr algn="ctr">
              <a:spcAft>
                <a:spcPts val="300"/>
              </a:spcAft>
              <a:defRPr sz="950" b="1">
                <a:solidFill>
                  <a:srgbClr val="C0443A"/>
                </a:solidFill>
                <a:latin typeface="Aptos"/>
              </a:defRPr>
            </a:pPr>
            <a:r>
              <a:t>237.5</a:t>
            </a:r>
          </a:p>
        </p:txBody>
      </p:sp>
      <p:cxnSp>
        <p:nvCxnSpPr>
          <p:cNvPr id="15" name="Connector 14"/>
          <p:cNvCxnSpPr/>
          <p:nvPr/>
        </p:nvCxnSpPr>
        <p:spPr>
          <a:xfrm>
            <a:off x="5583555" y="1773936"/>
            <a:ext cx="0" cy="3511296"/>
          </a:xfrm>
          <a:prstGeom prst="line">
            <a:avLst/>
          </a:prstGeom>
          <a:ln w="10160">
            <a:solidFill>
              <a:srgbClr val="D8E0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09235" y="5358384"/>
            <a:ext cx="548640" cy="228600"/>
          </a:xfrm>
          <a:prstGeom prst="rect">
            <a:avLst/>
          </a:prstGeom>
          <a:noFill/>
        </p:spPr>
        <p:txBody>
          <a:bodyPr wrap="square" lIns="27432" rIns="27432" tIns="18288" bIns="18288" anchor="t">
            <a:spAutoFit/>
          </a:bodyPr>
          <a:lstStyle/>
          <a:p>
            <a:pPr algn="ctr">
              <a:spcAft>
                <a:spcPts val="300"/>
              </a:spcAft>
              <a:defRPr sz="950" b="0">
                <a:solidFill>
                  <a:srgbClr val="5B6975"/>
                </a:solidFill>
                <a:latin typeface="Aptos"/>
              </a:defRPr>
            </a:pPr>
            <a:r>
              <a:t>240</a:t>
            </a:r>
          </a:p>
        </p:txBody>
      </p:sp>
      <p:cxnSp>
        <p:nvCxnSpPr>
          <p:cNvPr id="17" name="Connector 16"/>
          <p:cNvCxnSpPr/>
          <p:nvPr/>
        </p:nvCxnSpPr>
        <p:spPr>
          <a:xfrm>
            <a:off x="7346632" y="1773936"/>
            <a:ext cx="0" cy="3511296"/>
          </a:xfrm>
          <a:prstGeom prst="line">
            <a:avLst/>
          </a:prstGeom>
          <a:ln w="10160">
            <a:solidFill>
              <a:srgbClr val="D8E0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72312" y="5358384"/>
            <a:ext cx="548640" cy="228600"/>
          </a:xfrm>
          <a:prstGeom prst="rect">
            <a:avLst/>
          </a:prstGeom>
          <a:noFill/>
        </p:spPr>
        <p:txBody>
          <a:bodyPr wrap="square" lIns="27432" rIns="27432" tIns="18288" bIns="18288" anchor="t">
            <a:spAutoFit/>
          </a:bodyPr>
          <a:lstStyle/>
          <a:p>
            <a:pPr algn="ctr">
              <a:spcAft>
                <a:spcPts val="300"/>
              </a:spcAft>
              <a:defRPr sz="950" b="0">
                <a:solidFill>
                  <a:srgbClr val="5B6975"/>
                </a:solidFill>
                <a:latin typeface="Aptos"/>
              </a:defRPr>
            </a:pPr>
            <a:r>
              <a:t>250</a:t>
            </a:r>
          </a:p>
        </p:txBody>
      </p:sp>
      <p:sp>
        <p:nvSpPr>
          <p:cNvPr id="19" name="TextBox 18"/>
          <p:cNvSpPr txBox="1"/>
          <p:nvPr/>
        </p:nvSpPr>
        <p:spPr>
          <a:xfrm>
            <a:off x="4502705" y="1490472"/>
            <a:ext cx="1298448" cy="210312"/>
          </a:xfrm>
          <a:prstGeom prst="rect">
            <a:avLst/>
          </a:prstGeom>
          <a:noFill/>
        </p:spPr>
        <p:txBody>
          <a:bodyPr wrap="square" lIns="27432" rIns="27432" tIns="18288" bIns="18288" anchor="t">
            <a:spAutoFit/>
          </a:bodyPr>
          <a:lstStyle/>
          <a:p>
            <a:pPr algn="ctr">
              <a:spcAft>
                <a:spcPts val="300"/>
              </a:spcAft>
              <a:defRPr sz="950" b="1">
                <a:solidFill>
                  <a:srgbClr val="C0443A"/>
                </a:solidFill>
                <a:latin typeface="Aptos"/>
              </a:defRPr>
            </a:pPr>
            <a:r>
              <a:t>±5% lower limit</a:t>
            </a:r>
          </a:p>
        </p:txBody>
      </p:sp>
      <p:sp>
        <p:nvSpPr>
          <p:cNvPr id="20" name="TextBox 19"/>
          <p:cNvSpPr txBox="1"/>
          <p:nvPr/>
        </p:nvSpPr>
        <p:spPr>
          <a:xfrm>
            <a:off x="822960" y="1984248"/>
            <a:ext cx="960120" cy="292608"/>
          </a:xfrm>
          <a:prstGeom prst="rect">
            <a:avLst/>
          </a:prstGeom>
          <a:noFill/>
        </p:spPr>
        <p:txBody>
          <a:bodyPr wrap="square" lIns="27432" rIns="27432" tIns="18288" bIns="18288" anchor="t">
            <a:spAutoFit/>
          </a:bodyPr>
          <a:lstStyle/>
          <a:p>
            <a:pPr algn="l">
              <a:spcAft>
                <a:spcPts val="300"/>
              </a:spcAft>
              <a:defRPr sz="1300" b="1">
                <a:solidFill>
                  <a:srgbClr val="142B42"/>
                </a:solidFill>
                <a:latin typeface="Aptos"/>
              </a:defRPr>
            </a:pPr>
            <a:r>
              <a:t>12 bpm</a:t>
            </a:r>
          </a:p>
        </p:txBody>
      </p:sp>
      <p:cxnSp>
        <p:nvCxnSpPr>
          <p:cNvPr id="21" name="Connector 20"/>
          <p:cNvCxnSpPr/>
          <p:nvPr/>
        </p:nvCxnSpPr>
        <p:spPr>
          <a:xfrm>
            <a:off x="6517986" y="2148840"/>
            <a:ext cx="828646" cy="0"/>
          </a:xfrm>
          <a:prstGeom prst="line">
            <a:avLst/>
          </a:prstGeom>
          <a:ln w="101600">
            <a:solidFill>
              <a:srgbClr val="228961"/>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790688" y="2002536"/>
            <a:ext cx="292608" cy="292608"/>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0688" y="2007107"/>
            <a:ext cx="292608" cy="28346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24" name="TextBox 23"/>
          <p:cNvSpPr txBox="1"/>
          <p:nvPr/>
        </p:nvSpPr>
        <p:spPr>
          <a:xfrm>
            <a:off x="6053328" y="1984248"/>
            <a:ext cx="1508760" cy="292608"/>
          </a:xfrm>
          <a:prstGeom prst="rect">
            <a:avLst/>
          </a:prstGeom>
          <a:noFill/>
        </p:spPr>
        <p:txBody>
          <a:bodyPr wrap="square" lIns="27432" rIns="27432" tIns="18288" bIns="18288" anchor="t">
            <a:spAutoFit/>
          </a:bodyPr>
          <a:lstStyle/>
          <a:p>
            <a:pPr algn="r">
              <a:spcAft>
                <a:spcPts val="300"/>
              </a:spcAft>
              <a:defRPr sz="1150" b="1">
                <a:solidFill>
                  <a:srgbClr val="228961"/>
                </a:solidFill>
                <a:latin typeface="Aptos"/>
              </a:defRPr>
            </a:pPr>
            <a:r>
              <a:t>245.3–250.0 mL</a:t>
            </a:r>
          </a:p>
        </p:txBody>
      </p:sp>
      <p:sp>
        <p:nvSpPr>
          <p:cNvPr id="25" name="TextBox 24"/>
          <p:cNvSpPr txBox="1"/>
          <p:nvPr/>
        </p:nvSpPr>
        <p:spPr>
          <a:xfrm>
            <a:off x="822960" y="2734056"/>
            <a:ext cx="960120" cy="292608"/>
          </a:xfrm>
          <a:prstGeom prst="rect">
            <a:avLst/>
          </a:prstGeom>
          <a:noFill/>
        </p:spPr>
        <p:txBody>
          <a:bodyPr wrap="square" lIns="27432" rIns="27432" tIns="18288" bIns="18288" anchor="t">
            <a:spAutoFit/>
          </a:bodyPr>
          <a:lstStyle/>
          <a:p>
            <a:pPr algn="l">
              <a:spcAft>
                <a:spcPts val="300"/>
              </a:spcAft>
              <a:defRPr sz="1300" b="1">
                <a:solidFill>
                  <a:srgbClr val="142B42"/>
                </a:solidFill>
                <a:latin typeface="Aptos"/>
              </a:defRPr>
            </a:pPr>
            <a:r>
              <a:t>15 bpm</a:t>
            </a:r>
          </a:p>
        </p:txBody>
      </p:sp>
      <p:cxnSp>
        <p:nvCxnSpPr>
          <p:cNvPr id="26" name="Connector 25"/>
          <p:cNvCxnSpPr/>
          <p:nvPr/>
        </p:nvCxnSpPr>
        <p:spPr>
          <a:xfrm>
            <a:off x="6041955" y="2898648"/>
            <a:ext cx="652338" cy="0"/>
          </a:xfrm>
          <a:prstGeom prst="line">
            <a:avLst/>
          </a:prstGeom>
          <a:ln w="101600">
            <a:solidFill>
              <a:srgbClr val="228961"/>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790688" y="2752344"/>
            <a:ext cx="292608" cy="292608"/>
          </a:xfrm>
          <a:prstGeom prst="ellipse">
            <a:avLst/>
          </a:prstGeom>
          <a:solidFill>
            <a:srgbClr val="22896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0688" y="2756915"/>
            <a:ext cx="292608" cy="28346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29" name="TextBox 28"/>
          <p:cNvSpPr txBox="1"/>
          <p:nvPr/>
        </p:nvSpPr>
        <p:spPr>
          <a:xfrm>
            <a:off x="6053328" y="2734056"/>
            <a:ext cx="1508760" cy="292608"/>
          </a:xfrm>
          <a:prstGeom prst="rect">
            <a:avLst/>
          </a:prstGeom>
          <a:noFill/>
        </p:spPr>
        <p:txBody>
          <a:bodyPr wrap="square" lIns="27432" rIns="27432" tIns="18288" bIns="18288" anchor="t">
            <a:spAutoFit/>
          </a:bodyPr>
          <a:lstStyle/>
          <a:p>
            <a:pPr algn="r">
              <a:spcAft>
                <a:spcPts val="300"/>
              </a:spcAft>
              <a:defRPr sz="1150" b="1">
                <a:solidFill>
                  <a:srgbClr val="228961"/>
                </a:solidFill>
                <a:latin typeface="Aptos"/>
              </a:defRPr>
            </a:pPr>
            <a:r>
              <a:t>242.6–246.3 mL</a:t>
            </a:r>
          </a:p>
        </p:txBody>
      </p:sp>
      <p:sp>
        <p:nvSpPr>
          <p:cNvPr id="30" name="TextBox 29"/>
          <p:cNvSpPr txBox="1"/>
          <p:nvPr/>
        </p:nvSpPr>
        <p:spPr>
          <a:xfrm>
            <a:off x="822960" y="3483864"/>
            <a:ext cx="960120" cy="292608"/>
          </a:xfrm>
          <a:prstGeom prst="rect">
            <a:avLst/>
          </a:prstGeom>
          <a:noFill/>
        </p:spPr>
        <p:txBody>
          <a:bodyPr wrap="square" lIns="27432" rIns="27432" tIns="18288" bIns="18288" anchor="t">
            <a:spAutoFit/>
          </a:bodyPr>
          <a:lstStyle/>
          <a:p>
            <a:pPr algn="l">
              <a:spcAft>
                <a:spcPts val="300"/>
              </a:spcAft>
              <a:defRPr sz="1300" b="1">
                <a:solidFill>
                  <a:srgbClr val="142B42"/>
                </a:solidFill>
                <a:latin typeface="Aptos"/>
              </a:defRPr>
            </a:pPr>
            <a:r>
              <a:t>16 bpm</a:t>
            </a:r>
          </a:p>
        </p:txBody>
      </p:sp>
      <p:cxnSp>
        <p:nvCxnSpPr>
          <p:cNvPr id="31" name="Connector 30"/>
          <p:cNvCxnSpPr/>
          <p:nvPr/>
        </p:nvCxnSpPr>
        <p:spPr>
          <a:xfrm>
            <a:off x="5107524" y="3648456"/>
            <a:ext cx="617077" cy="0"/>
          </a:xfrm>
          <a:prstGeom prst="line">
            <a:avLst/>
          </a:prstGeom>
          <a:ln w="101600">
            <a:solidFill>
              <a:srgbClr val="C0443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790688" y="3502152"/>
            <a:ext cx="292608" cy="292608"/>
          </a:xfrm>
          <a:prstGeom prst="ellipse">
            <a:avLst/>
          </a:prstGeom>
          <a:solidFill>
            <a:srgbClr val="C0443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90688" y="3506724"/>
            <a:ext cx="292608" cy="28346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34" name="TextBox 33"/>
          <p:cNvSpPr txBox="1"/>
          <p:nvPr/>
        </p:nvSpPr>
        <p:spPr>
          <a:xfrm>
            <a:off x="6053328" y="3483864"/>
            <a:ext cx="1508760" cy="292608"/>
          </a:xfrm>
          <a:prstGeom prst="rect">
            <a:avLst/>
          </a:prstGeom>
          <a:noFill/>
        </p:spPr>
        <p:txBody>
          <a:bodyPr wrap="square" lIns="27432" rIns="27432" tIns="18288" bIns="18288" anchor="t">
            <a:spAutoFit/>
          </a:bodyPr>
          <a:lstStyle/>
          <a:p>
            <a:pPr algn="r">
              <a:spcAft>
                <a:spcPts val="300"/>
              </a:spcAft>
              <a:defRPr sz="1150" b="1">
                <a:solidFill>
                  <a:srgbClr val="C0443A"/>
                </a:solidFill>
                <a:latin typeface="Aptos"/>
              </a:defRPr>
            </a:pPr>
            <a:r>
              <a:t>237.3–240.8 mL</a:t>
            </a:r>
          </a:p>
        </p:txBody>
      </p:sp>
      <p:sp>
        <p:nvSpPr>
          <p:cNvPr id="35" name="TextBox 34"/>
          <p:cNvSpPr txBox="1"/>
          <p:nvPr/>
        </p:nvSpPr>
        <p:spPr>
          <a:xfrm>
            <a:off x="822960" y="4233672"/>
            <a:ext cx="960120" cy="292608"/>
          </a:xfrm>
          <a:prstGeom prst="rect">
            <a:avLst/>
          </a:prstGeom>
          <a:noFill/>
        </p:spPr>
        <p:txBody>
          <a:bodyPr wrap="square" lIns="27432" rIns="27432" tIns="18288" bIns="18288" anchor="t">
            <a:spAutoFit/>
          </a:bodyPr>
          <a:lstStyle/>
          <a:p>
            <a:pPr algn="l">
              <a:spcAft>
                <a:spcPts val="300"/>
              </a:spcAft>
              <a:defRPr sz="1300" b="1">
                <a:solidFill>
                  <a:srgbClr val="142B42"/>
                </a:solidFill>
                <a:latin typeface="Aptos"/>
              </a:defRPr>
            </a:pPr>
            <a:r>
              <a:t>18 bpm</a:t>
            </a:r>
          </a:p>
        </p:txBody>
      </p:sp>
      <p:cxnSp>
        <p:nvCxnSpPr>
          <p:cNvPr id="36" name="Connector 35"/>
          <p:cNvCxnSpPr/>
          <p:nvPr/>
        </p:nvCxnSpPr>
        <p:spPr>
          <a:xfrm>
            <a:off x="3326815" y="4398264"/>
            <a:ext cx="687601" cy="0"/>
          </a:xfrm>
          <a:prstGeom prst="line">
            <a:avLst/>
          </a:prstGeom>
          <a:ln w="101600">
            <a:solidFill>
              <a:srgbClr val="C0443A"/>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790688" y="4251960"/>
            <a:ext cx="292608" cy="292608"/>
          </a:xfrm>
          <a:prstGeom prst="ellipse">
            <a:avLst/>
          </a:prstGeom>
          <a:solidFill>
            <a:srgbClr val="C0443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90688" y="4256532"/>
            <a:ext cx="292608" cy="28346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a:t>
            </a:r>
          </a:p>
        </p:txBody>
      </p:sp>
      <p:sp>
        <p:nvSpPr>
          <p:cNvPr id="39" name="TextBox 38"/>
          <p:cNvSpPr txBox="1"/>
          <p:nvPr/>
        </p:nvSpPr>
        <p:spPr>
          <a:xfrm>
            <a:off x="6053328" y="4233672"/>
            <a:ext cx="1508760" cy="292608"/>
          </a:xfrm>
          <a:prstGeom prst="rect">
            <a:avLst/>
          </a:prstGeom>
          <a:noFill/>
        </p:spPr>
        <p:txBody>
          <a:bodyPr wrap="square" lIns="27432" rIns="27432" tIns="18288" bIns="18288" anchor="t">
            <a:spAutoFit/>
          </a:bodyPr>
          <a:lstStyle/>
          <a:p>
            <a:pPr algn="r">
              <a:spcAft>
                <a:spcPts val="300"/>
              </a:spcAft>
              <a:defRPr sz="1150" b="1">
                <a:solidFill>
                  <a:srgbClr val="C0443A"/>
                </a:solidFill>
                <a:latin typeface="Aptos"/>
              </a:defRPr>
            </a:pPr>
            <a:r>
              <a:t>227.2–231.1 mL</a:t>
            </a:r>
          </a:p>
        </p:txBody>
      </p:sp>
      <p:sp>
        <p:nvSpPr>
          <p:cNvPr id="40" name="TextBox 39"/>
          <p:cNvSpPr txBox="1"/>
          <p:nvPr/>
        </p:nvSpPr>
        <p:spPr>
          <a:xfrm>
            <a:off x="3401568" y="5577840"/>
            <a:ext cx="3063240" cy="228600"/>
          </a:xfrm>
          <a:prstGeom prst="rect">
            <a:avLst/>
          </a:prstGeom>
          <a:noFill/>
        </p:spPr>
        <p:txBody>
          <a:bodyPr wrap="square" lIns="27432" rIns="27432" tIns="18288" bIns="18288" anchor="t">
            <a:spAutoFit/>
          </a:bodyPr>
          <a:lstStyle/>
          <a:p>
            <a:pPr algn="ctr">
              <a:spcAft>
                <a:spcPts val="300"/>
              </a:spcAft>
              <a:defRPr sz="1000" b="0">
                <a:solidFill>
                  <a:srgbClr val="5B6975"/>
                </a:solidFill>
                <a:latin typeface="Aptos"/>
              </a:defRPr>
            </a:pPr>
            <a:r>
              <a:t>Tidal volume across 30 cycles / mL</a:t>
            </a:r>
          </a:p>
        </p:txBody>
      </p:sp>
      <p:sp>
        <p:nvSpPr>
          <p:cNvPr id="41" name="Rounded Rectangle 40"/>
          <p:cNvSpPr/>
          <p:nvPr/>
        </p:nvSpPr>
        <p:spPr>
          <a:xfrm>
            <a:off x="8485632" y="1335024"/>
            <a:ext cx="3108960" cy="2066543"/>
          </a:xfrm>
          <a:prstGeom prst="roundRect">
            <a:avLst/>
          </a:prstGeom>
          <a:solidFill>
            <a:srgbClr val="E2F5F5"/>
          </a:solidFill>
          <a:ln w="12700">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8240" y="1627632"/>
            <a:ext cx="1005840" cy="347472"/>
          </a:xfrm>
          <a:prstGeom prst="rect">
            <a:avLst/>
          </a:prstGeom>
          <a:noFill/>
        </p:spPr>
        <p:txBody>
          <a:bodyPr wrap="square" lIns="27432" rIns="27432" tIns="18288" bIns="18288" anchor="t">
            <a:spAutoFit/>
          </a:bodyPr>
          <a:lstStyle/>
          <a:p>
            <a:pPr algn="l">
              <a:spcAft>
                <a:spcPts val="300"/>
              </a:spcAft>
              <a:defRPr sz="2000" b="1">
                <a:solidFill>
                  <a:srgbClr val="142B42"/>
                </a:solidFill>
                <a:latin typeface="Aptos"/>
              </a:defRPr>
            </a:pPr>
            <a:r>
              <a:t>15 bpm</a:t>
            </a:r>
          </a:p>
        </p:txBody>
      </p:sp>
      <p:sp>
        <p:nvSpPr>
          <p:cNvPr id="43" name="TextBox 42"/>
          <p:cNvSpPr txBox="1"/>
          <p:nvPr/>
        </p:nvSpPr>
        <p:spPr>
          <a:xfrm>
            <a:off x="8778240" y="2075688"/>
            <a:ext cx="2487168" cy="777240"/>
          </a:xfrm>
          <a:prstGeom prst="rect">
            <a:avLst/>
          </a:prstGeom>
          <a:noFill/>
        </p:spPr>
        <p:txBody>
          <a:bodyPr wrap="square" lIns="27432" rIns="27432" tIns="18288" bIns="18288" anchor="t">
            <a:spAutoFit/>
          </a:bodyPr>
          <a:lstStyle/>
          <a:p>
            <a:pPr algn="l">
              <a:spcAft>
                <a:spcPts val="300"/>
              </a:spcAft>
              <a:defRPr sz="1400" b="1">
                <a:solidFill>
                  <a:srgbClr val="228961"/>
                </a:solidFill>
                <a:latin typeface="Aptos"/>
              </a:defRPr>
            </a:pPr>
            <a:r>
              <a:t>242.6–246.3 mL</a:t>
            </a:r>
          </a:p>
          <a:p>
            <a:pPr algn="l">
              <a:spcAft>
                <a:spcPts val="300"/>
              </a:spcAft>
              <a:defRPr sz="1400" b="1">
                <a:solidFill>
                  <a:srgbClr val="228961"/>
                </a:solidFill>
                <a:latin typeface="Aptos"/>
              </a:defRPr>
            </a:pPr>
            <a:r>
              <a:t>Passes the ±5% simulation band</a:t>
            </a:r>
          </a:p>
        </p:txBody>
      </p:sp>
      <p:sp>
        <p:nvSpPr>
          <p:cNvPr id="44" name="Rounded Rectangle 43"/>
          <p:cNvSpPr/>
          <p:nvPr/>
        </p:nvSpPr>
        <p:spPr>
          <a:xfrm>
            <a:off x="8485632" y="3584448"/>
            <a:ext cx="3108960" cy="2249424"/>
          </a:xfrm>
          <a:prstGeom prst="roundRect">
            <a:avLst/>
          </a:prstGeom>
          <a:solidFill>
            <a:srgbClr val="FFF1E2"/>
          </a:solidFill>
          <a:ln w="12700">
            <a:solidFill>
              <a:srgbClr val="E57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0" y="3858768"/>
            <a:ext cx="2240280" cy="292608"/>
          </a:xfrm>
          <a:prstGeom prst="rect">
            <a:avLst/>
          </a:prstGeom>
          <a:noFill/>
        </p:spPr>
        <p:txBody>
          <a:bodyPr wrap="square" lIns="27432" rIns="27432" tIns="18288" bIns="18288" anchor="t">
            <a:spAutoFit/>
          </a:bodyPr>
          <a:lstStyle/>
          <a:p>
            <a:pPr algn="l">
              <a:spcAft>
                <a:spcPts val="300"/>
              </a:spcAft>
              <a:defRPr sz="1400" b="1">
                <a:solidFill>
                  <a:srgbClr val="E57E31"/>
                </a:solidFill>
                <a:latin typeface="Aptos"/>
              </a:defRPr>
            </a:pPr>
            <a:r>
              <a:t>Critical caveat</a:t>
            </a:r>
          </a:p>
        </p:txBody>
      </p:sp>
      <p:sp>
        <p:nvSpPr>
          <p:cNvPr id="46" name="TextBox 45"/>
          <p:cNvSpPr txBox="1"/>
          <p:nvPr/>
        </p:nvSpPr>
        <p:spPr>
          <a:xfrm>
            <a:off x="8778240" y="4352544"/>
            <a:ext cx="2459736" cy="1024128"/>
          </a:xfrm>
          <a:prstGeom prst="rect">
            <a:avLst/>
          </a:prstGeom>
          <a:noFill/>
        </p:spPr>
        <p:txBody>
          <a:bodyPr wrap="square" lIns="27432" rIns="27432" tIns="18288" bIns="18288" anchor="t">
            <a:spAutoFit/>
          </a:bodyPr>
          <a:lstStyle/>
          <a:p>
            <a:pPr algn="l">
              <a:spcAft>
                <a:spcPts val="300"/>
              </a:spcAft>
              <a:defRPr sz="1400" b="1">
                <a:solidFill>
                  <a:srgbClr val="142B42"/>
                </a:solidFill>
                <a:latin typeface="Aptos"/>
              </a:defRPr>
            </a:pPr>
            <a:r>
              <a:t>PPV is fully open for ~100% of inspiration.</a:t>
            </a:r>
          </a:p>
          <a:p>
            <a:pPr algn="l">
              <a:spcAft>
                <a:spcPts val="300"/>
              </a:spcAft>
              <a:defRPr sz="1400" b="1">
                <a:solidFill>
                  <a:srgbClr val="142B42"/>
                </a:solidFill>
                <a:latin typeface="Aptos"/>
              </a:defRPr>
            </a:pPr>
            <a:r>
              <a:t>No meaningful throttling margin remains.</a:t>
            </a:r>
          </a:p>
        </p:txBody>
      </p:sp>
      <p:sp>
        <p:nvSpPr>
          <p:cNvPr id="47" name="TextBox 46"/>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Data: output/requirement_benchmark/single_lung_30_cycle_benchmark.md; guard on, assumed plant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3 — CURRENT STATUS</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15 bpm is a requirement trade-off, not just a PID tuning problem</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When the PPV is already fully open, software cannot create additional pneumatic flow.</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9</a:t>
            </a:r>
          </a:p>
        </p:txBody>
      </p:sp>
      <p:sp>
        <p:nvSpPr>
          <p:cNvPr id="8" name="TextBox 7"/>
          <p:cNvSpPr txBox="1"/>
          <p:nvPr/>
        </p:nvSpPr>
        <p:spPr>
          <a:xfrm>
            <a:off x="603504" y="1316736"/>
            <a:ext cx="6126480" cy="310896"/>
          </a:xfrm>
          <a:prstGeom prst="rect">
            <a:avLst/>
          </a:prstGeom>
          <a:noFill/>
        </p:spPr>
        <p:txBody>
          <a:bodyPr wrap="square" lIns="27432" rIns="27432" tIns="18288" bIns="18288" anchor="t">
            <a:spAutoFit/>
          </a:bodyPr>
          <a:lstStyle/>
          <a:p>
            <a:pPr algn="l">
              <a:spcAft>
                <a:spcPts val="300"/>
              </a:spcAft>
              <a:defRPr sz="1400" b="1">
                <a:solidFill>
                  <a:srgbClr val="142B42"/>
                </a:solidFill>
                <a:latin typeface="Aptos"/>
              </a:defRPr>
            </a:pPr>
            <a:r>
              <a:t>Available inspiration time at 15 bpm, I:E = 1:2</a:t>
            </a:r>
          </a:p>
        </p:txBody>
      </p:sp>
      <p:sp>
        <p:nvSpPr>
          <p:cNvPr id="9" name="Rectangle 8"/>
          <p:cNvSpPr/>
          <p:nvPr/>
        </p:nvSpPr>
        <p:spPr>
          <a:xfrm>
            <a:off x="621792" y="1901952"/>
            <a:ext cx="6583680" cy="640080"/>
          </a:xfrm>
          <a:prstGeom prst="rect">
            <a:avLst/>
          </a:prstGeom>
          <a:solidFill>
            <a:srgbClr val="E8F1F9"/>
          </a:solidFill>
          <a:ln w="12700">
            <a:solidFill>
              <a:srgbClr val="306F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901952"/>
            <a:ext cx="402336" cy="640080"/>
          </a:xfrm>
          <a:prstGeom prst="rect">
            <a:avLst/>
          </a:prstGeom>
          <a:solidFill>
            <a:srgbClr val="E57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 y="1901952"/>
            <a:ext cx="128016" cy="640080"/>
          </a:xfrm>
          <a:prstGeom prst="rect">
            <a:avLst/>
          </a:prstGeom>
          <a:solidFill>
            <a:srgbClr val="C04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660904"/>
            <a:ext cx="566928" cy="438912"/>
          </a:xfrm>
          <a:prstGeom prst="rect">
            <a:avLst/>
          </a:prstGeom>
          <a:noFill/>
        </p:spPr>
        <p:txBody>
          <a:bodyPr wrap="square" lIns="27432" rIns="27432" tIns="18288" bIns="18288" anchor="t">
            <a:spAutoFit/>
          </a:bodyPr>
          <a:lstStyle/>
          <a:p>
            <a:pPr algn="ctr">
              <a:spcAft>
                <a:spcPts val="300"/>
              </a:spcAft>
              <a:defRPr sz="1000" b="1">
                <a:solidFill>
                  <a:srgbClr val="E57E31"/>
                </a:solidFill>
                <a:latin typeface="Aptos"/>
              </a:defRPr>
            </a:pPr>
            <a:r>
              <a:t>80 ms</a:t>
            </a:r>
          </a:p>
          <a:p>
            <a:pPr algn="ctr">
              <a:spcAft>
                <a:spcPts val="300"/>
              </a:spcAft>
              <a:defRPr sz="1000" b="1">
                <a:solidFill>
                  <a:srgbClr val="E57E31"/>
                </a:solidFill>
                <a:latin typeface="Aptos"/>
              </a:defRPr>
            </a:pPr>
            <a:r>
              <a:t>switch</a:t>
            </a:r>
          </a:p>
        </p:txBody>
      </p:sp>
      <p:sp>
        <p:nvSpPr>
          <p:cNvPr id="13" name="TextBox 12"/>
          <p:cNvSpPr txBox="1"/>
          <p:nvPr/>
        </p:nvSpPr>
        <p:spPr>
          <a:xfrm>
            <a:off x="1069848" y="2660904"/>
            <a:ext cx="658368" cy="438912"/>
          </a:xfrm>
          <a:prstGeom prst="rect">
            <a:avLst/>
          </a:prstGeom>
          <a:noFill/>
        </p:spPr>
        <p:txBody>
          <a:bodyPr wrap="square" lIns="27432" rIns="27432" tIns="18288" bIns="18288" anchor="t">
            <a:spAutoFit/>
          </a:bodyPr>
          <a:lstStyle/>
          <a:p>
            <a:pPr algn="ctr">
              <a:spcAft>
                <a:spcPts val="300"/>
              </a:spcAft>
              <a:defRPr sz="1000" b="1">
                <a:solidFill>
                  <a:srgbClr val="C0443A"/>
                </a:solidFill>
                <a:latin typeface="Aptos"/>
              </a:defRPr>
            </a:pPr>
            <a:r>
              <a:t>~25 ms</a:t>
            </a:r>
          </a:p>
          <a:p>
            <a:pPr algn="ctr">
              <a:spcAft>
                <a:spcPts val="300"/>
              </a:spcAft>
              <a:defRPr sz="1000" b="1">
                <a:solidFill>
                  <a:srgbClr val="C0443A"/>
                </a:solidFill>
                <a:latin typeface="Aptos"/>
              </a:defRPr>
            </a:pPr>
            <a:r>
              <a:t>delay</a:t>
            </a:r>
          </a:p>
        </p:txBody>
      </p:sp>
      <p:sp>
        <p:nvSpPr>
          <p:cNvPr id="14" name="TextBox 13"/>
          <p:cNvSpPr txBox="1"/>
          <p:nvPr/>
        </p:nvSpPr>
        <p:spPr>
          <a:xfrm>
            <a:off x="1828800" y="2084831"/>
            <a:ext cx="4507992" cy="274320"/>
          </a:xfrm>
          <a:prstGeom prst="rect">
            <a:avLst/>
          </a:prstGeom>
          <a:noFill/>
        </p:spPr>
        <p:txBody>
          <a:bodyPr wrap="square" lIns="27432" rIns="27432" tIns="18288" bIns="18288" anchor="ctr">
            <a:spAutoFit/>
          </a:bodyPr>
          <a:lstStyle/>
          <a:p>
            <a:pPr algn="ctr">
              <a:spcAft>
                <a:spcPts val="300"/>
              </a:spcAft>
              <a:defRPr sz="1700" b="1">
                <a:solidFill>
                  <a:srgbClr val="142B42"/>
                </a:solidFill>
                <a:latin typeface="Aptos"/>
              </a:defRPr>
            </a:pPr>
            <a:r>
              <a:t>≈1.23 s remaining for pneumatic response</a:t>
            </a:r>
          </a:p>
        </p:txBody>
      </p:sp>
      <p:sp>
        <p:nvSpPr>
          <p:cNvPr id="15" name="TextBox 14"/>
          <p:cNvSpPr txBox="1"/>
          <p:nvPr/>
        </p:nvSpPr>
        <p:spPr>
          <a:xfrm>
            <a:off x="621792" y="1645920"/>
            <a:ext cx="6583680" cy="201168"/>
          </a:xfrm>
          <a:prstGeom prst="rect">
            <a:avLst/>
          </a:prstGeom>
          <a:noFill/>
        </p:spPr>
        <p:txBody>
          <a:bodyPr wrap="square" lIns="27432" rIns="27432" tIns="18288" bIns="18288" anchor="t">
            <a:spAutoFit/>
          </a:bodyPr>
          <a:lstStyle/>
          <a:p>
            <a:pPr algn="ctr">
              <a:spcAft>
                <a:spcPts val="300"/>
              </a:spcAft>
              <a:defRPr sz="1050" b="0">
                <a:solidFill>
                  <a:srgbClr val="5B6975"/>
                </a:solidFill>
                <a:latin typeface="Aptos"/>
              </a:defRPr>
            </a:pPr>
            <a:r>
              <a:t>1.333 s inspiration slot</a:t>
            </a:r>
          </a:p>
        </p:txBody>
      </p:sp>
      <p:sp>
        <p:nvSpPr>
          <p:cNvPr id="16" name="TextBox 15"/>
          <p:cNvSpPr txBox="1"/>
          <p:nvPr/>
        </p:nvSpPr>
        <p:spPr>
          <a:xfrm>
            <a:off x="621792" y="3300984"/>
            <a:ext cx="6583680" cy="301752"/>
          </a:xfrm>
          <a:prstGeom prst="rect">
            <a:avLst/>
          </a:prstGeom>
          <a:noFill/>
        </p:spPr>
        <p:txBody>
          <a:bodyPr wrap="square" lIns="27432" rIns="27432" tIns="18288" bIns="18288" anchor="t">
            <a:spAutoFit/>
          </a:bodyPr>
          <a:lstStyle/>
          <a:p>
            <a:pPr algn="ctr">
              <a:spcAft>
                <a:spcPts val="300"/>
              </a:spcAft>
              <a:defRPr sz="1800" b="1">
                <a:solidFill>
                  <a:srgbClr val="C0443A"/>
                </a:solidFill>
                <a:latin typeface="Aptos"/>
              </a:defRPr>
            </a:pPr>
            <a:r>
              <a:t>Assumed full-open reach: 1.30 s</a:t>
            </a:r>
          </a:p>
        </p:txBody>
      </p:sp>
      <p:cxnSp>
        <p:nvCxnSpPr>
          <p:cNvPr id="17" name="Connector 16"/>
          <p:cNvCxnSpPr/>
          <p:nvPr/>
        </p:nvCxnSpPr>
        <p:spPr>
          <a:xfrm>
            <a:off x="1152144" y="3154680"/>
            <a:ext cx="6053328" cy="0"/>
          </a:xfrm>
          <a:prstGeom prst="line">
            <a:avLst/>
          </a:prstGeom>
          <a:ln w="38100">
            <a:solidFill>
              <a:srgbClr val="C0443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3904487"/>
            <a:ext cx="6199632" cy="621792"/>
          </a:xfrm>
          <a:prstGeom prst="rect">
            <a:avLst/>
          </a:prstGeom>
          <a:noFill/>
        </p:spPr>
        <p:txBody>
          <a:bodyPr wrap="square" lIns="27432" rIns="27432" tIns="18288" bIns="18288" anchor="ctr">
            <a:spAutoFit/>
          </a:bodyPr>
          <a:lstStyle/>
          <a:p>
            <a:pPr algn="ctr">
              <a:spcAft>
                <a:spcPts val="300"/>
              </a:spcAft>
              <a:defRPr sz="1700" b="1">
                <a:solidFill>
                  <a:srgbClr val="142B42"/>
                </a:solidFill>
                <a:latin typeface="Aptos"/>
              </a:defRPr>
            </a:pPr>
            <a:r>
              <a:t>Result: the controller is saturated before it can create comfortable margin.</a:t>
            </a:r>
          </a:p>
        </p:txBody>
      </p:sp>
      <p:sp>
        <p:nvSpPr>
          <p:cNvPr id="19" name="Rounded Rectangle 18"/>
          <p:cNvSpPr/>
          <p:nvPr/>
        </p:nvSpPr>
        <p:spPr>
          <a:xfrm>
            <a:off x="7552944" y="1335024"/>
            <a:ext cx="4041648" cy="4498848"/>
          </a:xfrm>
          <a:prstGeom prst="roundRect">
            <a:avLst/>
          </a:prstGeom>
          <a:solidFill>
            <a:srgbClr val="FFF1E2"/>
          </a:solidFill>
          <a:ln w="12700">
            <a:solidFill>
              <a:srgbClr val="E57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45552" y="1636776"/>
            <a:ext cx="3502152" cy="301752"/>
          </a:xfrm>
          <a:prstGeom prst="rect">
            <a:avLst/>
          </a:prstGeom>
          <a:noFill/>
        </p:spPr>
        <p:txBody>
          <a:bodyPr wrap="square" lIns="27432" rIns="27432" tIns="18288" bIns="18288" anchor="t">
            <a:spAutoFit/>
          </a:bodyPr>
          <a:lstStyle/>
          <a:p>
            <a:pPr algn="l">
              <a:spcAft>
                <a:spcPts val="300"/>
              </a:spcAft>
              <a:defRPr sz="1150" b="1">
                <a:solidFill>
                  <a:srgbClr val="E57E31"/>
                </a:solidFill>
                <a:latin typeface="Aptos"/>
              </a:defRPr>
            </a:pPr>
            <a:r>
              <a:t>DECISION NEEDED FROM 4DMEDICAL</a:t>
            </a:r>
          </a:p>
        </p:txBody>
      </p:sp>
      <p:sp>
        <p:nvSpPr>
          <p:cNvPr id="21" name="Oval 20"/>
          <p:cNvSpPr/>
          <p:nvPr/>
        </p:nvSpPr>
        <p:spPr>
          <a:xfrm>
            <a:off x="7872983" y="2185416"/>
            <a:ext cx="310896" cy="310896"/>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2983" y="2189988"/>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23" name="TextBox 22"/>
          <p:cNvSpPr txBox="1"/>
          <p:nvPr/>
        </p:nvSpPr>
        <p:spPr>
          <a:xfrm>
            <a:off x="8321040" y="2148840"/>
            <a:ext cx="2798064" cy="713232"/>
          </a:xfrm>
          <a:prstGeom prst="rect">
            <a:avLst/>
          </a:prstGeom>
          <a:noFill/>
        </p:spPr>
        <p:txBody>
          <a:bodyPr wrap="square" lIns="27432" rIns="27432" tIns="18288" bIns="18288" anchor="t">
            <a:spAutoFit/>
          </a:bodyPr>
          <a:lstStyle/>
          <a:p>
            <a:pPr algn="l">
              <a:spcAft>
                <a:spcPts val="300"/>
              </a:spcAft>
              <a:defRPr sz="1450" b="1">
                <a:solidFill>
                  <a:srgbClr val="142B42"/>
                </a:solidFill>
                <a:latin typeface="Aptos"/>
              </a:defRPr>
            </a:pPr>
            <a:r>
              <a:t>Must 15 bpm, 250 mL and I:E 1:2 all be fixed simultaneously?</a:t>
            </a:r>
          </a:p>
        </p:txBody>
      </p:sp>
      <p:sp>
        <p:nvSpPr>
          <p:cNvPr id="24" name="Oval 23"/>
          <p:cNvSpPr/>
          <p:nvPr/>
        </p:nvSpPr>
        <p:spPr>
          <a:xfrm>
            <a:off x="7872983" y="3191256"/>
            <a:ext cx="310896" cy="310896"/>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72983" y="3195828"/>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26" name="TextBox 25"/>
          <p:cNvSpPr txBox="1"/>
          <p:nvPr/>
        </p:nvSpPr>
        <p:spPr>
          <a:xfrm>
            <a:off x="8321040" y="3154680"/>
            <a:ext cx="2798064" cy="713232"/>
          </a:xfrm>
          <a:prstGeom prst="rect">
            <a:avLst/>
          </a:prstGeom>
          <a:noFill/>
        </p:spPr>
        <p:txBody>
          <a:bodyPr wrap="square" lIns="27432" rIns="27432" tIns="18288" bIns="18288" anchor="t">
            <a:spAutoFit/>
          </a:bodyPr>
          <a:lstStyle/>
          <a:p>
            <a:pPr algn="l">
              <a:spcAft>
                <a:spcPts val="300"/>
              </a:spcAft>
              <a:defRPr sz="1450" b="1">
                <a:solidFill>
                  <a:srgbClr val="142B42"/>
                </a:solidFill>
                <a:latin typeface="Aptos"/>
              </a:defRPr>
            </a:pPr>
            <a:r>
              <a:t>Is ±5% required for every breath, and is a high early-flow pulse acceptable?</a:t>
            </a:r>
          </a:p>
        </p:txBody>
      </p:sp>
      <p:sp>
        <p:nvSpPr>
          <p:cNvPr id="27" name="Oval 26"/>
          <p:cNvSpPr/>
          <p:nvPr/>
        </p:nvSpPr>
        <p:spPr>
          <a:xfrm>
            <a:off x="7872983" y="4197096"/>
            <a:ext cx="310896" cy="310896"/>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72983" y="4201668"/>
            <a:ext cx="310896" cy="301752"/>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29" name="TextBox 28"/>
          <p:cNvSpPr txBox="1"/>
          <p:nvPr/>
        </p:nvSpPr>
        <p:spPr>
          <a:xfrm>
            <a:off x="8321040" y="4160520"/>
            <a:ext cx="2798064" cy="713232"/>
          </a:xfrm>
          <a:prstGeom prst="rect">
            <a:avLst/>
          </a:prstGeom>
          <a:noFill/>
        </p:spPr>
        <p:txBody>
          <a:bodyPr wrap="square" lIns="27432" rIns="27432" tIns="18288" bIns="18288" anchor="t">
            <a:spAutoFit/>
          </a:bodyPr>
          <a:lstStyle/>
          <a:p>
            <a:pPr algn="l">
              <a:spcAft>
                <a:spcPts val="300"/>
              </a:spcAft>
              <a:defRPr sz="1450" b="1">
                <a:solidFill>
                  <a:srgbClr val="142B42"/>
                </a:solidFill>
                <a:latin typeface="Aptos"/>
              </a:defRPr>
            </a:pPr>
            <a:r>
              <a:t>If the path saturates, should we change timing, target volume or hardware capacity?</a:t>
            </a:r>
          </a:p>
        </p:txBody>
      </p:sp>
      <p:sp>
        <p:nvSpPr>
          <p:cNvPr id="30" name="TextBox 29"/>
          <p:cNvSpPr txBox="1"/>
          <p:nvPr/>
        </p:nvSpPr>
        <p:spPr>
          <a:xfrm>
            <a:off x="7854696" y="5239512"/>
            <a:ext cx="3273552" cy="411480"/>
          </a:xfrm>
          <a:prstGeom prst="rect">
            <a:avLst/>
          </a:prstGeom>
          <a:noFill/>
        </p:spPr>
        <p:txBody>
          <a:bodyPr wrap="square" lIns="27432" rIns="27432" tIns="18288" bIns="18288" anchor="t">
            <a:spAutoFit/>
          </a:bodyPr>
          <a:lstStyle/>
          <a:p>
            <a:pPr algn="l">
              <a:spcAft>
                <a:spcPts val="300"/>
              </a:spcAft>
              <a:defRPr sz="1050" b="0">
                <a:solidFill>
                  <a:srgbClr val="C0443A"/>
                </a:solidFill>
                <a:latin typeface="Aptos"/>
              </a:defRPr>
            </a:pPr>
            <a:r>
              <a:t>18 bpm under the current assumed plant: 227–231 mL; PID gain changes cannot overcome full-open saturation.</a:t>
            </a:r>
          </a:p>
        </p:txBody>
      </p:sp>
      <p:sp>
        <p:nvSpPr>
          <p:cNvPr id="31" name="TextBox 30"/>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Timing and saturation evidence: benchmark and 18 bpm trade-off studies; installed path remains unmeasured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1051560"/>
            <a:ext cx="1097280" cy="822960"/>
          </a:xfrm>
          <a:prstGeom prst="rect">
            <a:avLst/>
          </a:prstGeom>
          <a:noFill/>
        </p:spPr>
        <p:txBody>
          <a:bodyPr wrap="square" lIns="27432" rIns="27432" tIns="18288" bIns="18288" anchor="t">
            <a:spAutoFit/>
          </a:bodyPr>
          <a:lstStyle/>
          <a:p>
            <a:pPr algn="l">
              <a:spcAft>
                <a:spcPts val="300"/>
              </a:spcAft>
              <a:defRPr sz="3400" b="1">
                <a:solidFill>
                  <a:srgbClr val="008991"/>
                </a:solidFill>
                <a:latin typeface="Aptos"/>
              </a:defRPr>
            </a:pPr>
            <a:r>
              <a:t>04</a:t>
            </a:r>
          </a:p>
        </p:txBody>
      </p:sp>
      <p:sp>
        <p:nvSpPr>
          <p:cNvPr id="4" name="TextBox 3"/>
          <p:cNvSpPr txBox="1"/>
          <p:nvPr/>
        </p:nvSpPr>
        <p:spPr>
          <a:xfrm>
            <a:off x="2039112" y="1170432"/>
            <a:ext cx="8778240" cy="731520"/>
          </a:xfrm>
          <a:prstGeom prst="rect">
            <a:avLst/>
          </a:prstGeom>
          <a:noFill/>
        </p:spPr>
        <p:txBody>
          <a:bodyPr wrap="square" lIns="27432" rIns="27432" tIns="18288" bIns="18288" anchor="t">
            <a:spAutoFit/>
          </a:bodyPr>
          <a:lstStyle/>
          <a:p>
            <a:pPr algn="l">
              <a:spcAft>
                <a:spcPts val="300"/>
              </a:spcAft>
              <a:defRPr sz="3100" b="1">
                <a:solidFill>
                  <a:srgbClr val="FFFFFF"/>
                </a:solidFill>
                <a:latin typeface="Aptos"/>
              </a:defRPr>
            </a:pPr>
            <a:r>
              <a:t>Future</a:t>
            </a:r>
          </a:p>
        </p:txBody>
      </p:sp>
      <p:cxnSp>
        <p:nvCxnSpPr>
          <p:cNvPr id="5" name="Connector 4"/>
          <p:cNvCxnSpPr/>
          <p:nvPr/>
        </p:nvCxnSpPr>
        <p:spPr>
          <a:xfrm>
            <a:off x="2039112" y="2157984"/>
            <a:ext cx="8842248" cy="0"/>
          </a:xfrm>
          <a:prstGeom prst="line">
            <a:avLst/>
          </a:prstGeom>
          <a:ln w="17780">
            <a:solidFill>
              <a:srgbClr val="4B687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039112" y="2505456"/>
            <a:ext cx="8686800" cy="1143000"/>
          </a:xfrm>
          <a:prstGeom prst="rect">
            <a:avLst/>
          </a:prstGeom>
          <a:noFill/>
        </p:spPr>
        <p:txBody>
          <a:bodyPr wrap="square" lIns="27432" rIns="27432" tIns="18288" bIns="18288" anchor="ctr">
            <a:spAutoFit/>
          </a:bodyPr>
          <a:lstStyle/>
          <a:p>
            <a:pPr algn="l">
              <a:spcAft>
                <a:spcPts val="300"/>
              </a:spcAft>
              <a:defRPr sz="2000" b="0">
                <a:solidFill>
                  <a:srgbClr val="CCDCE7"/>
                </a:solidFill>
                <a:latin typeface="Aptos"/>
              </a:defRPr>
            </a:pPr>
            <a:r>
              <a:t>Calibrate the installed pneumatic path, close the hardware loop, and validate against the agreed acceptance test.</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A0B6C6"/>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01168"/>
            <a:ext cx="3291840" cy="201168"/>
          </a:xfrm>
          <a:prstGeom prst="rect">
            <a:avLst/>
          </a:prstGeom>
          <a:noFill/>
        </p:spPr>
        <p:txBody>
          <a:bodyPr wrap="square" lIns="27432" rIns="27432" tIns="18288" bIns="18288" anchor="t">
            <a:spAutoFit/>
          </a:bodyPr>
          <a:lstStyle/>
          <a:p>
            <a:pPr algn="l">
              <a:spcAft>
                <a:spcPts val="300"/>
              </a:spcAft>
              <a:defRPr sz="850" b="1">
                <a:solidFill>
                  <a:srgbClr val="008991"/>
                </a:solidFill>
                <a:latin typeface="Aptos"/>
              </a:defRPr>
            </a:pPr>
            <a:r>
              <a:t>4 — FUTURE</a:t>
            </a:r>
          </a:p>
        </p:txBody>
      </p:sp>
      <p:sp>
        <p:nvSpPr>
          <p:cNvPr id="3" name="TextBox 2"/>
          <p:cNvSpPr txBox="1"/>
          <p:nvPr/>
        </p:nvSpPr>
        <p:spPr>
          <a:xfrm>
            <a:off x="457200" y="457200"/>
            <a:ext cx="11155680" cy="502920"/>
          </a:xfrm>
          <a:prstGeom prst="rect">
            <a:avLst/>
          </a:prstGeom>
          <a:noFill/>
        </p:spPr>
        <p:txBody>
          <a:bodyPr wrap="square" lIns="27432" rIns="27432" tIns="18288" bIns="18288" anchor="t">
            <a:spAutoFit/>
          </a:bodyPr>
          <a:lstStyle/>
          <a:p>
            <a:pPr algn="l">
              <a:spcAft>
                <a:spcPts val="300"/>
              </a:spcAft>
              <a:defRPr sz="2500" b="1">
                <a:solidFill>
                  <a:srgbClr val="142B42"/>
                </a:solidFill>
                <a:latin typeface="Aptos"/>
              </a:defRPr>
            </a:pPr>
            <a:r>
              <a:t>Future work: replace assumptions with measurements, then validate</a:t>
            </a:r>
          </a:p>
        </p:txBody>
      </p:sp>
      <p:cxnSp>
        <p:nvCxnSpPr>
          <p:cNvPr id="4" name="Connector 3"/>
          <p:cNvCxnSpPr/>
          <p:nvPr/>
        </p:nvCxnSpPr>
        <p:spPr>
          <a:xfrm>
            <a:off x="457200" y="1024128"/>
            <a:ext cx="11274552" cy="0"/>
          </a:xfrm>
          <a:prstGeom prst="line">
            <a:avLst/>
          </a:prstGeom>
          <a:ln w="12700">
            <a:solidFill>
              <a:srgbClr val="D8E0E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6144768"/>
            <a:ext cx="11274552" cy="347472"/>
          </a:xfrm>
          <a:prstGeom prst="rect">
            <a:avLst/>
          </a:prstGeom>
          <a:solidFill>
            <a:srgbClr val="E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6199632"/>
            <a:ext cx="10835640" cy="201168"/>
          </a:xfrm>
          <a:prstGeom prst="rect">
            <a:avLst/>
          </a:prstGeom>
          <a:noFill/>
        </p:spPr>
        <p:txBody>
          <a:bodyPr wrap="square" lIns="27432" rIns="27432" tIns="18288" bIns="18288" anchor="ctr">
            <a:spAutoFit/>
          </a:bodyPr>
          <a:lstStyle/>
          <a:p>
            <a:pPr algn="l">
              <a:spcAft>
                <a:spcPts val="300"/>
              </a:spcAft>
              <a:defRPr sz="1050" b="1">
                <a:solidFill>
                  <a:srgbClr val="142B42"/>
                </a:solidFill>
                <a:latin typeface="Aptos"/>
              </a:defRPr>
            </a:pPr>
            <a:r>
              <a:t>Success is a measured 30-cycle result against an agreed requirement—not a favourable simulation trace.</a:t>
            </a:r>
          </a:p>
        </p:txBody>
      </p:sp>
      <p:sp>
        <p:nvSpPr>
          <p:cNvPr id="7" name="TextBox 6"/>
          <p:cNvSpPr txBox="1"/>
          <p:nvPr/>
        </p:nvSpPr>
        <p:spPr>
          <a:xfrm>
            <a:off x="11475720" y="6565392"/>
            <a:ext cx="256032" cy="137160"/>
          </a:xfrm>
          <a:prstGeom prst="rect">
            <a:avLst/>
          </a:prstGeom>
          <a:noFill/>
        </p:spPr>
        <p:txBody>
          <a:bodyPr wrap="square" lIns="27432" rIns="27432" tIns="18288" bIns="18288" anchor="t">
            <a:spAutoFit/>
          </a:bodyPr>
          <a:lstStyle/>
          <a:p>
            <a:pPr algn="r">
              <a:spcAft>
                <a:spcPts val="300"/>
              </a:spcAft>
              <a:defRPr sz="750" b="0">
                <a:solidFill>
                  <a:srgbClr val="5B6975"/>
                </a:solidFill>
                <a:latin typeface="Aptos"/>
              </a:defRPr>
            </a:pPr>
            <a:r>
              <a:t>11</a:t>
            </a:r>
          </a:p>
        </p:txBody>
      </p:sp>
      <p:sp>
        <p:nvSpPr>
          <p:cNvPr id="8" name="Rounded Rectangle 7"/>
          <p:cNvSpPr/>
          <p:nvPr/>
        </p:nvSpPr>
        <p:spPr>
          <a:xfrm>
            <a:off x="576072" y="1444752"/>
            <a:ext cx="3401568" cy="3959352"/>
          </a:xfrm>
          <a:prstGeom prst="roundRect">
            <a:avLst/>
          </a:prstGeom>
          <a:solidFill>
            <a:srgbClr val="E2F5F5"/>
          </a:solidFill>
          <a:ln w="12700">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1719072"/>
            <a:ext cx="475488" cy="475488"/>
          </a:xfrm>
          <a:prstGeom prst="ellipse">
            <a:avLst/>
          </a:prstGeom>
          <a:solidFill>
            <a:srgbClr val="0089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23643"/>
            <a:ext cx="475488" cy="46634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1</a:t>
            </a:r>
          </a:p>
        </p:txBody>
      </p:sp>
      <p:sp>
        <p:nvSpPr>
          <p:cNvPr id="11" name="TextBox 10"/>
          <p:cNvSpPr txBox="1"/>
          <p:nvPr/>
        </p:nvSpPr>
        <p:spPr>
          <a:xfrm>
            <a:off x="1426464" y="1746504"/>
            <a:ext cx="2258568" cy="384048"/>
          </a:xfrm>
          <a:prstGeom prst="rect">
            <a:avLst/>
          </a:prstGeom>
          <a:noFill/>
        </p:spPr>
        <p:txBody>
          <a:bodyPr wrap="square" lIns="27432" rIns="27432" tIns="18288" bIns="18288" anchor="t">
            <a:spAutoFit/>
          </a:bodyPr>
          <a:lstStyle/>
          <a:p>
            <a:pPr algn="l">
              <a:spcAft>
                <a:spcPts val="300"/>
              </a:spcAft>
              <a:defRPr sz="1800" b="1">
                <a:solidFill>
                  <a:srgbClr val="142B42"/>
                </a:solidFill>
                <a:latin typeface="Aptos"/>
              </a:defRPr>
            </a:pPr>
            <a:r>
              <a:t>Calibrate the path</a:t>
            </a:r>
          </a:p>
        </p:txBody>
      </p:sp>
      <p:cxnSp>
        <p:nvCxnSpPr>
          <p:cNvPr id="12" name="Connector 11"/>
          <p:cNvCxnSpPr/>
          <p:nvPr/>
        </p:nvCxnSpPr>
        <p:spPr>
          <a:xfrm>
            <a:off x="832104" y="2350008"/>
            <a:ext cx="2880360" cy="0"/>
          </a:xfrm>
          <a:prstGeom prst="line">
            <a:avLst/>
          </a:prstGeom>
          <a:ln w="15240">
            <a:solidFill>
              <a:srgbClr val="00899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59536" y="2670048"/>
            <a:ext cx="2788920" cy="1554480"/>
          </a:xfrm>
          <a:prstGeom prst="rect">
            <a:avLst/>
          </a:prstGeom>
          <a:noFill/>
        </p:spPr>
        <p:txBody>
          <a:bodyPr wrap="square" lIns="27432" rIns="27432" tIns="18288" bIns="18288" anchor="t">
            <a:spAutoFit/>
          </a:bodyPr>
          <a:lstStyle/>
          <a:p>
            <a:pPr algn="l">
              <a:spcAft>
                <a:spcPts val="300"/>
              </a:spcAft>
              <a:defRPr sz="1450" b="0">
                <a:solidFill>
                  <a:srgbClr val="142B42"/>
                </a:solidFill>
                <a:latin typeface="Aptos"/>
              </a:defRPr>
            </a:pPr>
            <a:r>
              <a:t>Full-open ATM/VAC response</a:t>
            </a:r>
          </a:p>
          <a:p>
            <a:pPr algn="l">
              <a:spcAft>
                <a:spcPts val="300"/>
              </a:spcAft>
              <a:defRPr sz="1450" b="0">
                <a:solidFill>
                  <a:srgbClr val="142B42"/>
                </a:solidFill>
                <a:latin typeface="Aptos"/>
              </a:defRPr>
            </a:pPr>
            <a:r>
              <a:t>Fixed-opening PPV sweep</a:t>
            </a:r>
          </a:p>
          <a:p>
            <a:pPr algn="l">
              <a:spcAft>
                <a:spcPts val="300"/>
              </a:spcAft>
              <a:defRPr sz="1450" b="0">
                <a:solidFill>
                  <a:srgbClr val="142B42"/>
                </a:solidFill>
                <a:latin typeface="Aptos"/>
              </a:defRPr>
            </a:pPr>
            <a:r>
              <a:t>Synchronize Q(t), V(t), P(t), commands</a:t>
            </a:r>
          </a:p>
        </p:txBody>
      </p:sp>
      <p:sp>
        <p:nvSpPr>
          <p:cNvPr id="14" name="Rectangle 13"/>
          <p:cNvSpPr/>
          <p:nvPr/>
        </p:nvSpPr>
        <p:spPr>
          <a:xfrm>
            <a:off x="859536" y="4608576"/>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690872"/>
            <a:ext cx="2642616" cy="201168"/>
          </a:xfrm>
          <a:prstGeom prst="rect">
            <a:avLst/>
          </a:prstGeom>
          <a:noFill/>
        </p:spPr>
        <p:txBody>
          <a:bodyPr wrap="square" lIns="27432" rIns="27432" tIns="18288" bIns="18288" anchor="ctr">
            <a:spAutoFit/>
          </a:bodyPr>
          <a:lstStyle/>
          <a:p>
            <a:pPr algn="ctr">
              <a:spcAft>
                <a:spcPts val="300"/>
              </a:spcAft>
              <a:defRPr sz="1150" b="1">
                <a:solidFill>
                  <a:srgbClr val="008991"/>
                </a:solidFill>
                <a:latin typeface="Aptos"/>
              </a:defRPr>
            </a:pPr>
            <a:r>
              <a:t>Measured model</a:t>
            </a:r>
          </a:p>
        </p:txBody>
      </p:sp>
      <p:sp>
        <p:nvSpPr>
          <p:cNvPr id="16" name="TextBox 15"/>
          <p:cNvSpPr txBox="1"/>
          <p:nvPr/>
        </p:nvSpPr>
        <p:spPr>
          <a:xfrm>
            <a:off x="3977640" y="3090672"/>
            <a:ext cx="411480" cy="384048"/>
          </a:xfrm>
          <a:prstGeom prst="rect">
            <a:avLst/>
          </a:prstGeom>
          <a:noFill/>
        </p:spPr>
        <p:txBody>
          <a:bodyPr wrap="square" lIns="27432" rIns="27432" tIns="18288" bIns="18288" anchor="ctr">
            <a:spAutoFit/>
          </a:bodyPr>
          <a:lstStyle/>
          <a:p>
            <a:pPr algn="ctr">
              <a:spcAft>
                <a:spcPts val="300"/>
              </a:spcAft>
              <a:defRPr sz="2400" b="1">
                <a:solidFill>
                  <a:srgbClr val="5B6975"/>
                </a:solidFill>
                <a:latin typeface="Aptos"/>
              </a:defRPr>
            </a:pPr>
            <a:r>
              <a:t>→</a:t>
            </a:r>
          </a:p>
        </p:txBody>
      </p:sp>
      <p:sp>
        <p:nvSpPr>
          <p:cNvPr id="17" name="Rounded Rectangle 16"/>
          <p:cNvSpPr/>
          <p:nvPr/>
        </p:nvSpPr>
        <p:spPr>
          <a:xfrm>
            <a:off x="4389120" y="1444752"/>
            <a:ext cx="3401568" cy="3959352"/>
          </a:xfrm>
          <a:prstGeom prst="roundRect">
            <a:avLst/>
          </a:prstGeom>
          <a:solidFill>
            <a:srgbClr val="E8F1F9"/>
          </a:solidFill>
          <a:ln w="12700">
            <a:solidFill>
              <a:srgbClr val="306F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36008" y="1719072"/>
            <a:ext cx="475488" cy="475488"/>
          </a:xfrm>
          <a:prstGeom prst="ellipse">
            <a:avLst/>
          </a:prstGeom>
          <a:solidFill>
            <a:srgbClr val="306FA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1723643"/>
            <a:ext cx="475488" cy="46634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2</a:t>
            </a:r>
          </a:p>
        </p:txBody>
      </p:sp>
      <p:sp>
        <p:nvSpPr>
          <p:cNvPr id="20" name="TextBox 19"/>
          <p:cNvSpPr txBox="1"/>
          <p:nvPr/>
        </p:nvSpPr>
        <p:spPr>
          <a:xfrm>
            <a:off x="5239512" y="1746504"/>
            <a:ext cx="2258568" cy="384048"/>
          </a:xfrm>
          <a:prstGeom prst="rect">
            <a:avLst/>
          </a:prstGeom>
          <a:noFill/>
        </p:spPr>
        <p:txBody>
          <a:bodyPr wrap="square" lIns="27432" rIns="27432" tIns="18288" bIns="18288" anchor="t">
            <a:spAutoFit/>
          </a:bodyPr>
          <a:lstStyle/>
          <a:p>
            <a:pPr algn="l">
              <a:spcAft>
                <a:spcPts val="300"/>
              </a:spcAft>
              <a:defRPr sz="1800" b="1">
                <a:solidFill>
                  <a:srgbClr val="142B42"/>
                </a:solidFill>
                <a:latin typeface="Aptos"/>
              </a:defRPr>
            </a:pPr>
            <a:r>
              <a:t>Close the real loop</a:t>
            </a:r>
          </a:p>
        </p:txBody>
      </p:sp>
      <p:cxnSp>
        <p:nvCxnSpPr>
          <p:cNvPr id="21" name="Connector 20"/>
          <p:cNvCxnSpPr/>
          <p:nvPr/>
        </p:nvCxnSpPr>
        <p:spPr>
          <a:xfrm>
            <a:off x="4645152" y="2350008"/>
            <a:ext cx="2880360" cy="0"/>
          </a:xfrm>
          <a:prstGeom prst="line">
            <a:avLst/>
          </a:prstGeom>
          <a:ln w="15240">
            <a:solidFill>
              <a:srgbClr val="306FA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72583" y="2670048"/>
            <a:ext cx="2788920" cy="1554480"/>
          </a:xfrm>
          <a:prstGeom prst="rect">
            <a:avLst/>
          </a:prstGeom>
          <a:noFill/>
        </p:spPr>
        <p:txBody>
          <a:bodyPr wrap="square" lIns="27432" rIns="27432" tIns="18288" bIns="18288" anchor="t">
            <a:spAutoFit/>
          </a:bodyPr>
          <a:lstStyle/>
          <a:p>
            <a:pPr algn="l">
              <a:spcAft>
                <a:spcPts val="300"/>
              </a:spcAft>
              <a:defRPr sz="1450" b="0">
                <a:solidFill>
                  <a:srgbClr val="142B42"/>
                </a:solidFill>
                <a:latin typeface="Aptos"/>
              </a:defRPr>
            </a:pPr>
            <a:r>
              <a:t>Drive PPV and routing valves</a:t>
            </a:r>
          </a:p>
          <a:p>
            <a:pPr algn="l">
              <a:spcAft>
                <a:spcPts val="300"/>
              </a:spcAft>
              <a:defRPr sz="1450" b="0">
                <a:solidFill>
                  <a:srgbClr val="142B42"/>
                </a:solidFill>
                <a:latin typeface="Aptos"/>
              </a:defRPr>
            </a:pPr>
            <a:r>
              <a:t>Feed SFM3300 data to controller</a:t>
            </a:r>
          </a:p>
          <a:p>
            <a:pPr algn="l">
              <a:spcAft>
                <a:spcPts val="300"/>
              </a:spcAft>
              <a:defRPr sz="1450" b="0">
                <a:solidFill>
                  <a:srgbClr val="142B42"/>
                </a:solidFill>
                <a:latin typeface="Aptos"/>
              </a:defRPr>
            </a:pPr>
            <a:r>
              <a:t>Verify timing and safety interlocks</a:t>
            </a:r>
          </a:p>
        </p:txBody>
      </p:sp>
      <p:sp>
        <p:nvSpPr>
          <p:cNvPr id="23" name="Rectangle 22"/>
          <p:cNvSpPr/>
          <p:nvPr/>
        </p:nvSpPr>
        <p:spPr>
          <a:xfrm>
            <a:off x="4672583" y="4608576"/>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45736" y="4690872"/>
            <a:ext cx="2642616" cy="201168"/>
          </a:xfrm>
          <a:prstGeom prst="rect">
            <a:avLst/>
          </a:prstGeom>
          <a:noFill/>
        </p:spPr>
        <p:txBody>
          <a:bodyPr wrap="square" lIns="27432" rIns="27432" tIns="18288" bIns="18288" anchor="ctr">
            <a:spAutoFit/>
          </a:bodyPr>
          <a:lstStyle/>
          <a:p>
            <a:pPr algn="ctr">
              <a:spcAft>
                <a:spcPts val="300"/>
              </a:spcAft>
              <a:defRPr sz="1150" b="1">
                <a:solidFill>
                  <a:srgbClr val="306FAB"/>
                </a:solidFill>
                <a:latin typeface="Aptos"/>
              </a:defRPr>
            </a:pPr>
            <a:r>
              <a:t>Hardware closed loop</a:t>
            </a:r>
          </a:p>
        </p:txBody>
      </p:sp>
      <p:sp>
        <p:nvSpPr>
          <p:cNvPr id="25" name="TextBox 24"/>
          <p:cNvSpPr txBox="1"/>
          <p:nvPr/>
        </p:nvSpPr>
        <p:spPr>
          <a:xfrm>
            <a:off x="7790688" y="3090672"/>
            <a:ext cx="411480" cy="384048"/>
          </a:xfrm>
          <a:prstGeom prst="rect">
            <a:avLst/>
          </a:prstGeom>
          <a:noFill/>
        </p:spPr>
        <p:txBody>
          <a:bodyPr wrap="square" lIns="27432" rIns="27432" tIns="18288" bIns="18288" anchor="ctr">
            <a:spAutoFit/>
          </a:bodyPr>
          <a:lstStyle/>
          <a:p>
            <a:pPr algn="ctr">
              <a:spcAft>
                <a:spcPts val="300"/>
              </a:spcAft>
              <a:defRPr sz="2400" b="1">
                <a:solidFill>
                  <a:srgbClr val="5B6975"/>
                </a:solidFill>
                <a:latin typeface="Aptos"/>
              </a:defRPr>
            </a:pPr>
            <a:r>
              <a:t>→</a:t>
            </a:r>
          </a:p>
        </p:txBody>
      </p:sp>
      <p:sp>
        <p:nvSpPr>
          <p:cNvPr id="26" name="Rounded Rectangle 25"/>
          <p:cNvSpPr/>
          <p:nvPr/>
        </p:nvSpPr>
        <p:spPr>
          <a:xfrm>
            <a:off x="8202168" y="1444752"/>
            <a:ext cx="3401568" cy="3959352"/>
          </a:xfrm>
          <a:prstGeom prst="roundRect">
            <a:avLst/>
          </a:prstGeom>
          <a:solidFill>
            <a:srgbClr val="FFF1E2"/>
          </a:solidFill>
          <a:ln w="12700">
            <a:solidFill>
              <a:srgbClr val="E57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49056" y="1719072"/>
            <a:ext cx="475488" cy="475488"/>
          </a:xfrm>
          <a:prstGeom prst="ellipse">
            <a:avLst/>
          </a:prstGeom>
          <a:solidFill>
            <a:srgbClr val="E57E3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49056" y="1723643"/>
            <a:ext cx="475488" cy="466344"/>
          </a:xfrm>
          <a:prstGeom prst="rect">
            <a:avLst/>
          </a:prstGeom>
          <a:noFill/>
        </p:spPr>
        <p:txBody>
          <a:bodyPr wrap="square" lIns="27432" rIns="27432" tIns="18288" bIns="18288" anchor="ctr">
            <a:spAutoFit/>
          </a:bodyPr>
          <a:lstStyle/>
          <a:p>
            <a:pPr algn="ctr">
              <a:spcAft>
                <a:spcPts val="300"/>
              </a:spcAft>
              <a:defRPr sz="1300" b="1">
                <a:solidFill>
                  <a:srgbClr val="FFFFFF"/>
                </a:solidFill>
                <a:latin typeface="Aptos"/>
              </a:defRPr>
            </a:pPr>
            <a:r>
              <a:t>3</a:t>
            </a:r>
          </a:p>
        </p:txBody>
      </p:sp>
      <p:sp>
        <p:nvSpPr>
          <p:cNvPr id="29" name="TextBox 28"/>
          <p:cNvSpPr txBox="1"/>
          <p:nvPr/>
        </p:nvSpPr>
        <p:spPr>
          <a:xfrm>
            <a:off x="9052560" y="1746504"/>
            <a:ext cx="2258568" cy="384048"/>
          </a:xfrm>
          <a:prstGeom prst="rect">
            <a:avLst/>
          </a:prstGeom>
          <a:noFill/>
        </p:spPr>
        <p:txBody>
          <a:bodyPr wrap="square" lIns="27432" rIns="27432" tIns="18288" bIns="18288" anchor="t">
            <a:spAutoFit/>
          </a:bodyPr>
          <a:lstStyle/>
          <a:p>
            <a:pPr algn="l">
              <a:spcAft>
                <a:spcPts val="300"/>
              </a:spcAft>
              <a:defRPr sz="1800" b="1">
                <a:solidFill>
                  <a:srgbClr val="142B42"/>
                </a:solidFill>
                <a:latin typeface="Aptos"/>
              </a:defRPr>
            </a:pPr>
            <a:r>
              <a:t>Validate performance</a:t>
            </a:r>
          </a:p>
        </p:txBody>
      </p:sp>
      <p:cxnSp>
        <p:nvCxnSpPr>
          <p:cNvPr id="30" name="Connector 29"/>
          <p:cNvCxnSpPr/>
          <p:nvPr/>
        </p:nvCxnSpPr>
        <p:spPr>
          <a:xfrm>
            <a:off x="8458200" y="2350008"/>
            <a:ext cx="2880360" cy="0"/>
          </a:xfrm>
          <a:prstGeom prst="line">
            <a:avLst/>
          </a:prstGeom>
          <a:ln w="15240">
            <a:solidFill>
              <a:srgbClr val="E57E3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85632" y="2670048"/>
            <a:ext cx="2788920" cy="1554480"/>
          </a:xfrm>
          <a:prstGeom prst="rect">
            <a:avLst/>
          </a:prstGeom>
          <a:noFill/>
        </p:spPr>
        <p:txBody>
          <a:bodyPr wrap="square" lIns="27432" rIns="27432" tIns="18288" bIns="18288" anchor="t">
            <a:spAutoFit/>
          </a:bodyPr>
          <a:lstStyle/>
          <a:p>
            <a:pPr algn="l">
              <a:spcAft>
                <a:spcPts val="300"/>
              </a:spcAft>
              <a:defRPr sz="1450" b="0">
                <a:solidFill>
                  <a:srgbClr val="142B42"/>
                </a:solidFill>
                <a:latin typeface="Aptos"/>
              </a:defRPr>
            </a:pPr>
            <a:r>
              <a:t>30 cycles at agreed nominal/boundary</a:t>
            </a:r>
          </a:p>
          <a:p>
            <a:pPr algn="l">
              <a:spcAft>
                <a:spcPts val="300"/>
              </a:spcAft>
              <a:defRPr sz="1450" b="0">
                <a:solidFill>
                  <a:srgbClr val="142B42"/>
                </a:solidFill>
                <a:latin typeface="Aptos"/>
              </a:defRPr>
            </a:pPr>
            <a:r>
              <a:t>Report volume, flow and saturation</a:t>
            </a:r>
          </a:p>
          <a:p>
            <a:pPr algn="l">
              <a:spcAft>
                <a:spcPts val="300"/>
              </a:spcAft>
              <a:defRPr sz="1450" b="0">
                <a:solidFill>
                  <a:srgbClr val="142B42"/>
                </a:solidFill>
                <a:latin typeface="Aptos"/>
              </a:defRPr>
            </a:pPr>
            <a:r>
              <a:t>Then test independent dual branches</a:t>
            </a:r>
          </a:p>
        </p:txBody>
      </p:sp>
      <p:sp>
        <p:nvSpPr>
          <p:cNvPr id="32" name="Rectangle 31"/>
          <p:cNvSpPr/>
          <p:nvPr/>
        </p:nvSpPr>
        <p:spPr>
          <a:xfrm>
            <a:off x="8485632" y="4608576"/>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58784" y="4690872"/>
            <a:ext cx="2642616" cy="201168"/>
          </a:xfrm>
          <a:prstGeom prst="rect">
            <a:avLst/>
          </a:prstGeom>
          <a:noFill/>
        </p:spPr>
        <p:txBody>
          <a:bodyPr wrap="square" lIns="27432" rIns="27432" tIns="18288" bIns="18288" anchor="ctr">
            <a:spAutoFit/>
          </a:bodyPr>
          <a:lstStyle/>
          <a:p>
            <a:pPr algn="ctr">
              <a:spcAft>
                <a:spcPts val="300"/>
              </a:spcAft>
              <a:defRPr sz="1150" b="1">
                <a:solidFill>
                  <a:srgbClr val="E57E31"/>
                </a:solidFill>
                <a:latin typeface="Aptos"/>
              </a:defRPr>
            </a:pPr>
            <a:r>
              <a:t>Requirement evidence</a:t>
            </a:r>
          </a:p>
        </p:txBody>
      </p:sp>
      <p:sp>
        <p:nvSpPr>
          <p:cNvPr id="34" name="TextBox 33"/>
          <p:cNvSpPr txBox="1"/>
          <p:nvPr/>
        </p:nvSpPr>
        <p:spPr>
          <a:xfrm>
            <a:off x="475488" y="6565392"/>
            <a:ext cx="10607040" cy="137160"/>
          </a:xfrm>
          <a:prstGeom prst="rect">
            <a:avLst/>
          </a:prstGeom>
          <a:noFill/>
        </p:spPr>
        <p:txBody>
          <a:bodyPr wrap="square" lIns="27432" rIns="27432" tIns="18288" bIns="18288" anchor="t">
            <a:spAutoFit/>
          </a:bodyPr>
          <a:lstStyle/>
          <a:p>
            <a:pPr algn="l">
              <a:spcAft>
                <a:spcPts val="300"/>
              </a:spcAft>
              <a:defRPr sz="700" b="0">
                <a:solidFill>
                  <a:srgbClr val="5B6975"/>
                </a:solidFill>
                <a:latin typeface="Aptos"/>
              </a:defRPr>
            </a:pPr>
            <a:r>
              <a:t>Proposed experiments: experiment_design_speaker_notes.md and PROTOTYPE_REQUIREMENTS.md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LungLogic UI — Medical Group Presentation</dc:title>
  <dc:subject>Objective, requirements, UI functions, current status and future work</dc:subject>
  <dc:creator>LungLogic Capstone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
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58368"/>
            <a:ext cx="106070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364AA"/>
                </a:solidFill>
                <a:latin typeface="Microsoft YaHei"/>
              </a:rPr>
              <a:t>LungLogic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53312"/>
            <a:ext cx="1060704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700" b="1">
                <a:solidFill>
                  <a:srgbClr val="102A43"/>
                </a:solidFill>
                <a:latin typeface="Microsoft YaHei"/>
              </a:rPr>
              <a:t>PPV40V 实物实验结果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2450592"/>
            <a:ext cx="100584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100" b="0">
                <a:solidFill>
                  <a:srgbClr val="52606D"/>
                </a:solidFill>
                <a:latin typeface="Microsoft YaHei"/>
              </a:rPr>
              <a:t>PWM—电压校准与 fake lung 吸气开度辨识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3200400"/>
            <a:ext cx="3703320" cy="73152"/>
          </a:xfrm>
          <a:prstGeom prst="rect">
            <a:avLst/>
          </a:prstGeom>
          <a:solidFill>
            <a:srgbClr val="169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22191"/>
            <a:ext cx="49377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Microsoft YaHei"/>
              </a:rPr>
              <a:t>Group Meeting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61104"/>
            <a:ext cx="49377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2606D"/>
                </a:solidFill>
                <a:latin typeface="Microsoft YaHei"/>
              </a:rPr>
              <a:t>2026-10-06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96912" y="3685032"/>
            <a:ext cx="34747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2364AA"/>
                </a:solidFill>
                <a:latin typeface="Microsoft YaHei"/>
              </a:rPr>
              <a:t>两组实验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6912" y="4169663"/>
            <a:ext cx="34747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50" b="0">
                <a:solidFill>
                  <a:srgbClr val="102A43"/>
                </a:solidFill>
                <a:latin typeface="Microsoft YaHei"/>
              </a:rPr>
              <a:t>1. PCB/Arduino PWM → 电压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4608576"/>
            <a:ext cx="34747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50" b="0">
                <a:solidFill>
                  <a:srgbClr val="102A43"/>
                </a:solidFill>
                <a:latin typeface="Microsoft YaHei"/>
              </a:rPr>
              <a:t>2. PPV 电压 → 吸气流量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181344"/>
            <a:ext cx="10469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2606D"/>
                </a:solidFill>
                <a:latin typeface="Microsoft YaHei"/>
              </a:rPr>
              <a:t>Preliminary parameter identification and test-quality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两组实验分别回答什么？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2606D"/>
                </a:solidFill>
                <a:latin typeface="Microsoft YaHei"/>
              </a:rPr>
              <a:t>先区分电气命令链和气动被控对象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>
                <a:solidFill>
                  <a:srgbClr val="52606D"/>
                </a:solidFill>
                <a:latin typeface="Microsoft Ya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364AA"/>
                </a:solidFill>
                <a:latin typeface="Microsoft YaHei"/>
              </a:rPr>
              <a:t>实验 1：PWM—电压扫描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2468880"/>
            <a:ext cx="1234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624328"/>
            <a:ext cx="10972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102A43"/>
                </a:solidFill>
                <a:latin typeface="Microsoft YaHei"/>
              </a:rPr>
              <a:t>PWM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3008376"/>
            <a:ext cx="10972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2606D"/>
                </a:solidFill>
                <a:latin typeface="Microsoft YaHei"/>
              </a:rPr>
              <a:t>0–4095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2888" y="2468880"/>
            <a:ext cx="1508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2624328"/>
            <a:ext cx="13716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102A43"/>
                </a:solidFill>
                <a:latin typeface="Microsoft YaHei"/>
              </a:rPr>
              <a:t>滤波/电平转换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008376"/>
            <a:ext cx="13716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2606D"/>
                </a:solidFill>
                <a:latin typeface="Microsoft YaHei"/>
              </a:rPr>
              <a:t>1 kHz, 12 bit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468880"/>
            <a:ext cx="1234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624328"/>
            <a:ext cx="10972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102A43"/>
                </a:solidFill>
                <a:latin typeface="Microsoft YaHei"/>
              </a:rPr>
              <a:t>万用表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3008376"/>
            <a:ext cx="10972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2606D"/>
                </a:solidFill>
                <a:latin typeface="Microsoft YaHei"/>
              </a:rPr>
              <a:t>0–5 V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21992" y="2971800"/>
            <a:ext cx="265176" cy="0"/>
          </a:xfrm>
          <a:prstGeom prst="line">
            <a:avLst/>
          </a:prstGeom>
          <a:ln w="25400">
            <a:solidFill>
              <a:srgbClr val="236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050791" y="2971800"/>
            <a:ext cx="246889" cy="0"/>
          </a:xfrm>
          <a:prstGeom prst="line">
            <a:avLst/>
          </a:prstGeom>
          <a:ln w="25400">
            <a:solidFill>
              <a:srgbClr val="236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87552" y="3840480"/>
            <a:ext cx="4480560" cy="1234440"/>
          </a:xfrm>
          <a:prstGeom prst="rect">
            <a:avLst/>
          </a:prstGeom>
          <a:noFill/>
        </p:spPr>
        <p:txBody>
          <a:bodyPr wrap="square" lIns="73152" rIns="27432" tIns="18288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  <a:defRPr sz="1450">
                <a:solidFill>
                  <a:srgbClr val="102A43"/>
                </a:solidFill>
                <a:latin typeface="Microsoft YaHei"/>
              </a:defRPr>
            </a:pPr>
            <a:r>
              <a:t>• 线性、稳态误差、升降扫重复性</a:t>
            </a:r>
          </a:p>
          <a:p>
            <a:pPr>
              <a:lnSpc>
                <a:spcPct val="114000"/>
              </a:lnSpc>
              <a:spcAft>
                <a:spcPts val="800"/>
              </a:spcAft>
              <a:defRPr sz="1450">
                <a:solidFill>
                  <a:srgbClr val="102A43"/>
                </a:solidFill>
                <a:latin typeface="Microsoft YaHei"/>
              </a:defRPr>
            </a:pPr>
            <a:r>
              <a:t>• 不测阀位、流量或动态延迟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1737360"/>
            <a:ext cx="466344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69C89"/>
                </a:solidFill>
                <a:latin typeface="Microsoft YaHei"/>
              </a:rPr>
              <a:t>实验 2：PPV—fake lung 吸气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2468880"/>
            <a:ext cx="1234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624328"/>
            <a:ext cx="108813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102A43"/>
                </a:solidFill>
                <a:latin typeface="Microsoft YaHei"/>
              </a:rPr>
              <a:t>PPV 电压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008376"/>
            <a:ext cx="1088136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2606D"/>
                </a:solidFill>
                <a:latin typeface="Microsoft YaHei"/>
              </a:rPr>
              <a:t>0–4.2 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6448" y="2468880"/>
            <a:ext cx="1234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624328"/>
            <a:ext cx="108813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102A43"/>
                </a:solidFill>
                <a:latin typeface="Microsoft YaHei"/>
              </a:rPr>
              <a:t>ATM 开启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008376"/>
            <a:ext cx="1088136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2606D"/>
                </a:solidFill>
                <a:latin typeface="Microsoft YaHei"/>
              </a:rPr>
              <a:t>吸气阶跃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56648" y="2468880"/>
            <a:ext cx="1234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2624328"/>
            <a:ext cx="108813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102A43"/>
                </a:solidFill>
                <a:latin typeface="Microsoft YaHei"/>
              </a:rPr>
              <a:t>SFM3300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008376"/>
            <a:ext cx="1088136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2606D"/>
                </a:solidFill>
                <a:latin typeface="Microsoft YaHei"/>
              </a:rPr>
              <a:t>50 Hz 流量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90688" y="2971800"/>
            <a:ext cx="320039" cy="0"/>
          </a:xfrm>
          <a:prstGeom prst="line">
            <a:avLst/>
          </a:prstGeom>
          <a:ln w="25400">
            <a:solidFill>
              <a:srgbClr val="169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390888" y="2971800"/>
            <a:ext cx="320040" cy="0"/>
          </a:xfrm>
          <a:prstGeom prst="line">
            <a:avLst/>
          </a:prstGeom>
          <a:ln w="25400">
            <a:solidFill>
              <a:srgbClr val="169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56248" y="3840480"/>
            <a:ext cx="4480560" cy="1234440"/>
          </a:xfrm>
          <a:prstGeom prst="rect">
            <a:avLst/>
          </a:prstGeom>
          <a:noFill/>
        </p:spPr>
        <p:txBody>
          <a:bodyPr wrap="square" lIns="73152" rIns="27432" tIns="18288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  <a:defRPr sz="1450">
                <a:solidFill>
                  <a:srgbClr val="102A43"/>
                </a:solidFill>
                <a:latin typeface="Microsoft YaHei"/>
              </a:defRPr>
            </a:pPr>
            <a:r>
              <a:t>• 一阶时间常数、有效调节区、夹闭点、γ</a:t>
            </a:r>
          </a:p>
          <a:p>
            <a:pPr>
              <a:lnSpc>
                <a:spcPct val="114000"/>
              </a:lnSpc>
              <a:spcAft>
                <a:spcPts val="800"/>
              </a:spcAft>
              <a:defRPr sz="1450">
                <a:solidFill>
                  <a:srgbClr val="102A43"/>
                </a:solidFill>
                <a:latin typeface="Microsoft YaHei"/>
              </a:defRPr>
            </a:pPr>
            <a:r>
              <a:t>• PPV 已提前设定，不能隔离 PPV 动作延迟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181344"/>
            <a:ext cx="1083564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20" b="1">
                <a:solidFill>
                  <a:srgbClr val="169C89"/>
                </a:solidFill>
                <a:latin typeface="Microsoft YaHei"/>
              </a:rPr>
              <a:t>联合分析才能判断：流量死区不是电压输出失真造成的。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实验 1：经过 PCB/Arduino 后，PWM 与输出电压基本一致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2606D"/>
                </a:solidFill>
                <a:latin typeface="Microsoft YaHei"/>
              </a:rPr>
              <a:t>D5 1 kHz、12-bit PWM → PCB 滤波/电平转换 → PPV 0–5 V 控制输入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>
                <a:solidFill>
                  <a:srgbClr val="52606D"/>
                </a:solidFill>
                <a:latin typeface="Microsoft YaHei"/>
              </a:rPr>
              <a:t>3</a:t>
            </a:r>
          </a:p>
        </p:txBody>
      </p:sp>
      <p:pic>
        <p:nvPicPr>
          <p:cNvPr id="6" name="Picture 5" descr="electrical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35024"/>
            <a:ext cx="6995160" cy="44988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45552" y="1444752"/>
            <a:ext cx="3401568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2364AA"/>
                </a:solidFill>
                <a:latin typeface="Microsoft YaHei"/>
              </a:rPr>
              <a:t>实验方法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552" y="1847088"/>
            <a:ext cx="340156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102A43"/>
                </a:solidFill>
                <a:latin typeface="Microsoft YaHei"/>
              </a:rPr>
              <a:t>0–100% 升扫，再 100–0% 降扫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5552" y="2450592"/>
            <a:ext cx="3401568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2364AA"/>
                </a:solidFill>
                <a:latin typeface="Microsoft YaHei"/>
              </a:rPr>
              <a:t>数据结果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2871216"/>
            <a:ext cx="3401568" cy="1554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20" b="0">
                <a:solidFill>
                  <a:srgbClr val="102A43"/>
                </a:solidFill>
                <a:latin typeface="Microsoft YaHei"/>
              </a:rPr>
              <a:t>• 线性 R²：0.999993
• RMSE：4.63 mV
• 最大误差：7.4 mV
• 升/降扫最大差：1.0 mV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4773168"/>
            <a:ext cx="3401568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69C89"/>
                </a:solidFill>
                <a:latin typeface="Microsoft YaHei"/>
              </a:rPr>
              <a:t>实验结论
最大误差仅 0.148% FS，线性换算已足够。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81344"/>
            <a:ext cx="1083564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20" b="1">
                <a:solidFill>
                  <a:srgbClr val="2364AA"/>
                </a:solidFill>
                <a:latin typeface="Microsoft YaHei"/>
              </a:rPr>
              <a:t>因此第二个实验中的流量非线性不是 PCB/Arduino 电压输出偏差造成的。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实验 2：固定 PPV 电压下的 fake lung 吸气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2606D"/>
                </a:solidFill>
                <a:latin typeface="Microsoft YaHei"/>
              </a:rPr>
              <a:t>每次手动压扁 fake lung，再用 ATM 开启作为吸气阶跃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>
                <a:solidFill>
                  <a:srgbClr val="52606D"/>
                </a:solidFill>
                <a:latin typeface="Microsoft YaHe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874519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9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984248"/>
            <a:ext cx="32918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9C89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56816"/>
            <a:ext cx="13258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20" b="1">
                <a:solidFill>
                  <a:srgbClr val="102A43"/>
                </a:solidFill>
                <a:latin typeface="Microsoft YaHei"/>
              </a:rPr>
              <a:t>压扁 fake lung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487168"/>
            <a:ext cx="153619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60" b="0">
                <a:solidFill>
                  <a:srgbClr val="52606D"/>
                </a:solidFill>
                <a:latin typeface="Microsoft YaHei"/>
              </a:rPr>
              <a:t>手动初始状态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95728" y="2496312"/>
            <a:ext cx="356616" cy="0"/>
          </a:xfrm>
          <a:prstGeom prst="line">
            <a:avLst/>
          </a:prstGeom>
          <a:ln w="25400">
            <a:solidFill>
              <a:srgbClr val="169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16352" y="1828800"/>
            <a:ext cx="1874519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9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1984248"/>
            <a:ext cx="32918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9C89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956816"/>
            <a:ext cx="13258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20" b="1">
                <a:solidFill>
                  <a:srgbClr val="102A43"/>
                </a:solidFill>
                <a:latin typeface="Microsoft YaHei"/>
              </a:rPr>
              <a:t>ATM/VAC 关闭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2487168"/>
            <a:ext cx="153619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60" b="0">
                <a:solidFill>
                  <a:srgbClr val="52606D"/>
                </a:solidFill>
                <a:latin typeface="Microsoft YaHei"/>
              </a:rPr>
              <a:t>隔离气路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09160" y="2496312"/>
            <a:ext cx="356616" cy="0"/>
          </a:xfrm>
          <a:prstGeom prst="line">
            <a:avLst/>
          </a:prstGeom>
          <a:ln w="25400">
            <a:solidFill>
              <a:srgbClr val="169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29783" y="1828800"/>
            <a:ext cx="1874519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9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799" y="1984248"/>
            <a:ext cx="32918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9C89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9551" y="1956816"/>
            <a:ext cx="13258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20" b="1">
                <a:solidFill>
                  <a:srgbClr val="102A43"/>
                </a:solidFill>
                <a:latin typeface="Microsoft YaHei"/>
              </a:rPr>
              <a:t>设置 PPV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5" y="2487168"/>
            <a:ext cx="153619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60" b="0">
                <a:solidFill>
                  <a:srgbClr val="52606D"/>
                </a:solidFill>
                <a:latin typeface="Microsoft YaHei"/>
              </a:rPr>
              <a:t>0–4.2 V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22592" y="2496312"/>
            <a:ext cx="356616" cy="0"/>
          </a:xfrm>
          <a:prstGeom prst="line">
            <a:avLst/>
          </a:prstGeom>
          <a:ln w="25400">
            <a:solidFill>
              <a:srgbClr val="169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43216" y="1828800"/>
            <a:ext cx="1874519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9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2" y="1984248"/>
            <a:ext cx="32918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9C89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2984" y="1956816"/>
            <a:ext cx="13258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20" b="1">
                <a:solidFill>
                  <a:srgbClr val="102A43"/>
                </a:solidFill>
                <a:latin typeface="Microsoft YaHei"/>
              </a:rPr>
              <a:t>打开 ATM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2487168"/>
            <a:ext cx="153619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60" b="0">
                <a:solidFill>
                  <a:srgbClr val="52606D"/>
                </a:solidFill>
                <a:latin typeface="Microsoft YaHei"/>
              </a:rPr>
              <a:t>正常吸气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36024" y="2496312"/>
            <a:ext cx="356616" cy="0"/>
          </a:xfrm>
          <a:prstGeom prst="line">
            <a:avLst/>
          </a:prstGeom>
          <a:ln w="25400">
            <a:solidFill>
              <a:srgbClr val="169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756648" y="1828800"/>
            <a:ext cx="1874519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9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84664" y="1984248"/>
            <a:ext cx="32918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9C89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6416" y="1956816"/>
            <a:ext cx="13258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20" b="1">
                <a:solidFill>
                  <a:srgbClr val="102A43"/>
                </a:solidFill>
                <a:latin typeface="Microsoft YaHei"/>
              </a:rPr>
              <a:t>记录流量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487168"/>
            <a:ext cx="153619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60" b="0">
                <a:solidFill>
                  <a:srgbClr val="52606D"/>
                </a:solidFill>
                <a:latin typeface="Microsoft YaHei"/>
              </a:rPr>
              <a:t>SFM3300, 50 Hz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3977639"/>
            <a:ext cx="23317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2364AA"/>
                </a:solidFill>
                <a:latin typeface="Microsoft YaHei"/>
              </a:rPr>
              <a:t>40 份 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4370832"/>
            <a:ext cx="233172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30" b="0">
                <a:solidFill>
                  <a:srgbClr val="52606D"/>
                </a:solidFill>
                <a:latin typeface="Microsoft YaHei"/>
              </a:rPr>
              <a:t>包含不同电压和重复试验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6432" y="3977639"/>
            <a:ext cx="23317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69C89"/>
                </a:solidFill>
                <a:latin typeface="Microsoft YaHei"/>
              </a:rPr>
              <a:t>38 次动态拟合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6432" y="4370832"/>
            <a:ext cx="233172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30" b="0">
                <a:solidFill>
                  <a:srgbClr val="52606D"/>
                </a:solidFill>
                <a:latin typeface="Microsoft YaHei"/>
              </a:rPr>
              <a:t>37.csv 剔除；42.csv 作为夹闭点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71616" y="3977639"/>
            <a:ext cx="23317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F28E2B"/>
                </a:solidFill>
                <a:latin typeface="Microsoft YaHei"/>
              </a:rPr>
              <a:t>R² 中位数 0.9994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71616" y="4370832"/>
            <a:ext cx="233172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30" b="0">
                <a:solidFill>
                  <a:srgbClr val="52606D"/>
                </a:solidFill>
                <a:latin typeface="Microsoft YaHei"/>
              </a:rPr>
              <a:t>累积体积的一阶拟合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977639"/>
            <a:ext cx="23317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D1495B"/>
                </a:solidFill>
                <a:latin typeface="Microsoft YaHei"/>
              </a:rPr>
              <a:t>未记录压力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370832"/>
            <a:ext cx="233172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30" b="0">
                <a:solidFill>
                  <a:srgbClr val="52606D"/>
                </a:solidFill>
                <a:latin typeface="Microsoft YaHei"/>
              </a:rPr>
              <a:t>不能分离阀阻与 fake lung 顺应性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181344"/>
            <a:ext cx="1083564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20" b="1">
                <a:solidFill>
                  <a:srgbClr val="169C89"/>
                </a:solidFill>
                <a:latin typeface="Microsoft YaHei"/>
              </a:rPr>
              <a:t>可识别整个“PPV—管路—fake lung”的有效动态，不是 PPV 独立流量系数。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a. 初步建模参数如何从流量数据得到？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2606D"/>
                </a:solidFill>
                <a:latin typeface="Microsoft YaHei"/>
              </a:rPr>
              <a:t>每次试验给出一条 Q(t)，同一电压的重复试验再取稳健汇总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>
                <a:solidFill>
                  <a:srgbClr val="52606D"/>
                </a:solidFill>
                <a:latin typeface="Microsoft YaHe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874519"/>
            <a:ext cx="1554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2084831"/>
            <a:ext cx="1371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50" b="1">
                <a:solidFill>
                  <a:srgbClr val="2364AA"/>
                </a:solidFill>
                <a:latin typeface="Microsoft YaHei"/>
              </a:rPr>
              <a:t>Q(t)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542032"/>
            <a:ext cx="13716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80" b="0">
                <a:solidFill>
                  <a:srgbClr val="52606D"/>
                </a:solidFill>
                <a:latin typeface="Microsoft YaHei"/>
              </a:rPr>
              <a:t>50 Hz 流量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1680" y="2487168"/>
            <a:ext cx="292608" cy="0"/>
          </a:xfrm>
          <a:prstGeom prst="line">
            <a:avLst/>
          </a:prstGeom>
          <a:ln w="25400">
            <a:solidFill>
              <a:srgbClr val="236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59152" y="1874519"/>
            <a:ext cx="1554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9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2084831"/>
            <a:ext cx="1371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50" b="1">
                <a:solidFill>
                  <a:srgbClr val="169C89"/>
                </a:solidFill>
                <a:latin typeface="Microsoft YaHei"/>
              </a:rPr>
              <a:t>零点校正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" y="2542032"/>
            <a:ext cx="13716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80" b="0">
                <a:solidFill>
                  <a:srgbClr val="52606D"/>
                </a:solidFill>
                <a:latin typeface="Microsoft YaHei"/>
              </a:rPr>
              <a:t>ATM 前 2 s 中位数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1920" y="2487168"/>
            <a:ext cx="292608" cy="0"/>
          </a:xfrm>
          <a:prstGeom prst="line">
            <a:avLst/>
          </a:prstGeom>
          <a:ln w="25400">
            <a:solidFill>
              <a:srgbClr val="169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79392" y="1874519"/>
            <a:ext cx="1554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1" y="2084831"/>
            <a:ext cx="1371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50" b="1">
                <a:solidFill>
                  <a:srgbClr val="F28E2B"/>
                </a:solidFill>
                <a:latin typeface="Microsoft YaHei"/>
              </a:rPr>
              <a:t>V(t)=∫Qdt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1" y="2542032"/>
            <a:ext cx="13716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80" b="0">
                <a:solidFill>
                  <a:srgbClr val="52606D"/>
                </a:solidFill>
                <a:latin typeface="Microsoft YaHei"/>
              </a:rPr>
              <a:t>累积吸入体积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52159" y="2487168"/>
            <a:ext cx="292609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99632" y="1874519"/>
            <a:ext cx="1554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2084831"/>
            <a:ext cx="1371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50" b="1">
                <a:solidFill>
                  <a:srgbClr val="D1495B"/>
                </a:solidFill>
                <a:latin typeface="Microsoft YaHei"/>
              </a:rPr>
              <a:t>一阶拟合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542032"/>
            <a:ext cx="13716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80" b="0">
                <a:solidFill>
                  <a:srgbClr val="52606D"/>
                </a:solidFill>
                <a:latin typeface="Microsoft YaHei"/>
              </a:rPr>
              <a:t>V∞、td、τeff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0" y="2487168"/>
            <a:ext cx="292608" cy="0"/>
          </a:xfrm>
          <a:prstGeom prst="line">
            <a:avLst/>
          </a:prstGeom>
          <a:ln w="25400">
            <a:solidFill>
              <a:srgbClr val="D14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19872" y="1874519"/>
            <a:ext cx="1554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2084831"/>
            <a:ext cx="1371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50" b="1">
                <a:solidFill>
                  <a:srgbClr val="2E7D32"/>
                </a:solidFill>
                <a:latin typeface="Microsoft YaHei"/>
              </a:rPr>
              <a:t>分电压汇总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542032"/>
            <a:ext cx="13716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80" b="0">
                <a:solidFill>
                  <a:srgbClr val="52606D"/>
                </a:solidFill>
                <a:latin typeface="Microsoft YaHei"/>
              </a:rPr>
              <a:t>τeff 中位数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92640" y="2487168"/>
            <a:ext cx="292608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040112" y="1874519"/>
            <a:ext cx="1554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31552" y="2084831"/>
            <a:ext cx="1371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50" b="1">
                <a:solidFill>
                  <a:srgbClr val="2364AA"/>
                </a:solidFill>
                <a:latin typeface="Microsoft YaHei"/>
              </a:rPr>
              <a:t>PPV 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31552" y="2542032"/>
            <a:ext cx="13716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80" b="0">
                <a:solidFill>
                  <a:srgbClr val="52606D"/>
                </a:solidFill>
                <a:latin typeface="Microsoft YaHei"/>
              </a:rPr>
              <a:t>Ud、Uc、γ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840480"/>
            <a:ext cx="4800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28E2B"/>
                </a:solidFill>
                <a:latin typeface="Microsoft YaHei"/>
              </a:rPr>
              <a:t>单次实验可得到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279392"/>
            <a:ext cx="4800600" cy="8412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02A43"/>
                </a:solidFill>
                <a:latin typeface="Microsoft YaHei"/>
              </a:rPr>
              <a:t>• 峰值/早期流量、累积体积 V(t)
• τeff、拟合体积 V∞、综合延迟 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840480"/>
            <a:ext cx="4800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69C89"/>
                </a:solidFill>
                <a:latin typeface="Microsoft YaHei"/>
              </a:rPr>
              <a:t>多电压数据可进一步得到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279392"/>
            <a:ext cx="4800600" cy="8412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02A43"/>
                </a:solidFill>
                <a:latin typeface="Microsoft YaHei"/>
              </a:rPr>
              <a:t>• 全开基础时间常数 τin
• 有效调节起点 Ud、夹闭点 Uc、开度指数 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181344"/>
            <a:ext cx="1083564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20" b="1">
                <a:solidFill>
                  <a:srgbClr val="F28E2B"/>
                </a:solidFill>
                <a:latin typeface="Microsoft YaHei"/>
              </a:rPr>
              <a:t>峰值流量对初始压扁程度很敏感；因此 γ 主要根据一阶时间常数辨识。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代表性流量曲线：3.3 V 后逐渐变慢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2606D"/>
                </a:solidFill>
                <a:latin typeface="Microsoft YaHei"/>
              </a:rPr>
              <a:t>每个电压选取最接近该组中位时间常数的一次实验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>
                <a:solidFill>
                  <a:srgbClr val="52606D"/>
                </a:solidFill>
                <a:latin typeface="Microsoft YaHei"/>
              </a:rPr>
              <a:t>6</a:t>
            </a:r>
          </a:p>
        </p:txBody>
      </p:sp>
      <p:pic>
        <p:nvPicPr>
          <p:cNvPr id="6" name="Picture 5" descr="representative_flow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25880"/>
            <a:ext cx="8001000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0" y="1600200"/>
            <a:ext cx="2423160" cy="3794760"/>
          </a:xfrm>
          <a:prstGeom prst="rect">
            <a:avLst/>
          </a:prstGeom>
          <a:noFill/>
        </p:spPr>
        <p:txBody>
          <a:bodyPr wrap="square" lIns="73152" rIns="27432" tIns="18288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  <a:defRPr sz="1400">
                <a:solidFill>
                  <a:srgbClr val="102A43"/>
                </a:solidFill>
                <a:latin typeface="Microsoft YaHei"/>
              </a:defRPr>
            </a:pPr>
            <a:r>
              <a:t>• 0–3.2 V：衰减时间接近，阀限制较弱</a:t>
            </a:r>
          </a:p>
          <a:p>
            <a:pPr>
              <a:lnSpc>
                <a:spcPct val="114000"/>
              </a:lnSpc>
              <a:spcAft>
                <a:spcPts val="800"/>
              </a:spcAft>
              <a:defRPr sz="1400">
                <a:solidFill>
                  <a:srgbClr val="102A43"/>
                </a:solidFill>
                <a:latin typeface="Microsoft YaHei"/>
              </a:defRPr>
            </a:pPr>
            <a:r>
              <a:t>• 3.5–3.9 V：峰值下降，吸气持续时间增加</a:t>
            </a:r>
          </a:p>
          <a:p>
            <a:pPr>
              <a:lnSpc>
                <a:spcPct val="114000"/>
              </a:lnSpc>
              <a:spcAft>
                <a:spcPts val="800"/>
              </a:spcAft>
              <a:defRPr sz="1400">
                <a:solidFill>
                  <a:srgbClr val="102A43"/>
                </a:solidFill>
                <a:latin typeface="Microsoft YaHei"/>
              </a:defRPr>
            </a:pPr>
            <a:r>
              <a:t>• 4.1 V：峰值约 5.6 SLM，响应显著变慢</a:t>
            </a:r>
          </a:p>
          <a:p>
            <a:pPr>
              <a:lnSpc>
                <a:spcPct val="114000"/>
              </a:lnSpc>
              <a:spcAft>
                <a:spcPts val="800"/>
              </a:spcAft>
              <a:defRPr sz="1400">
                <a:solidFill>
                  <a:srgbClr val="102A43"/>
                </a:solidFill>
                <a:latin typeface="Microsoft YaHei"/>
              </a:defRPr>
            </a:pPr>
            <a:r>
              <a:t>• 4.2 V：流量与零点噪声相当，确认夹闭</a:t>
            </a:r>
          </a:p>
          <a:p>
            <a:pPr>
              <a:lnSpc>
                <a:spcPct val="114000"/>
              </a:lnSpc>
              <a:spcAft>
                <a:spcPts val="800"/>
              </a:spcAft>
              <a:defRPr sz="1400">
                <a:solidFill>
                  <a:srgbClr val="102A43"/>
                </a:solidFill>
                <a:latin typeface="Microsoft YaHei"/>
              </a:defRPr>
            </a:pPr>
            <a:r>
              <a:t>• 峰值流量受手动压扁程度影响，不用于单独辨识 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181344"/>
            <a:ext cx="1083564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20" b="1">
                <a:solidFill>
                  <a:srgbClr val="F28E2B"/>
                </a:solidFill>
                <a:latin typeface="Microsoft YaHei"/>
              </a:rPr>
              <a:t>曲线展示了明确的整体趋势，但局部非单调主要来自初始机械状态差异。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一阶时间常数辨识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2606D"/>
                </a:solidFill>
                <a:latin typeface="Microsoft YaHei"/>
              </a:rPr>
              <a:t>对零点校正流量积分，拟合累积吸入体积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>
                <a:solidFill>
                  <a:srgbClr val="52606D"/>
                </a:solidFill>
                <a:latin typeface="Microsoft YaHei"/>
              </a:rPr>
              <a:t>7</a:t>
            </a:r>
          </a:p>
        </p:txBody>
      </p:sp>
      <p:pic>
        <p:nvPicPr>
          <p:cNvPr id="6" name="Picture 5" descr="tau_voltage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8448"/>
            <a:ext cx="7909560" cy="46817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2520" y="1572768"/>
            <a:ext cx="257860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28E2B"/>
                </a:solidFill>
                <a:latin typeface="Microsoft YaHei"/>
              </a:rPr>
              <a:t>拟合模型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993392"/>
            <a:ext cx="2578608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Microsoft YaHei"/>
              </a:rPr>
              <a:t>V(t)=V∞[1−exp(−(t−td)/τeff)]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944368"/>
            <a:ext cx="257860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69C89"/>
                </a:solidFill>
                <a:latin typeface="Microsoft YaHei"/>
              </a:rPr>
              <a:t>初步结果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401568"/>
            <a:ext cx="2578608" cy="1261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Microsoft YaHei"/>
              </a:rPr>
              <a:t>• 0–3.2 V：τ 中位数 1.91 s
• 4.1 V：τ = 9.41 s
• 3.9 V 以上增长很快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181344"/>
            <a:ext cx="1083564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20" b="1">
                <a:solidFill>
                  <a:srgbClr val="169C89"/>
                </a:solidFill>
                <a:latin typeface="Microsoft YaHei"/>
              </a:rPr>
              <a:t>全开基础时间常数可取 τin ≈ 1.9 s；3.9 V 以上时间常数快速增大。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PPV 非线性：需要分段有效开度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2606D"/>
                </a:solidFill>
                <a:latin typeface="Microsoft YaHei"/>
              </a:rPr>
              <a:t>低电压死区 + 4.2 V 提前夹闭，不适合全程 a=1−U/5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>
                <a:solidFill>
                  <a:srgbClr val="52606D"/>
                </a:solidFill>
                <a:latin typeface="Microsoft YaHei"/>
              </a:rPr>
              <a:t>8</a:t>
            </a:r>
          </a:p>
        </p:txBody>
      </p:sp>
      <p:pic>
        <p:nvPicPr>
          <p:cNvPr id="6" name="Picture 5" descr="effective_opening_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608076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59168" y="1517904"/>
            <a:ext cx="4023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364AA"/>
                </a:solidFill>
                <a:latin typeface="Microsoft YaHei"/>
              </a:rPr>
              <a:t>分段模型拟合结果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9168" y="1975104"/>
            <a:ext cx="4023360" cy="14813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20" b="0">
                <a:solidFill>
                  <a:srgbClr val="102A43"/>
                </a:solidFill>
                <a:latin typeface="Microsoft YaHei"/>
              </a:rPr>
              <a:t>• τin = 1.88 s
• 平台终点 Ud = 3.09 V
• 有效开度 γ = 0.653
• 时间常数拟合 R² = 0.986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9168" y="3794760"/>
            <a:ext cx="402336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F28E2B"/>
                </a:solidFill>
                <a:latin typeface="Microsoft YaHei"/>
              </a:rPr>
              <a:t>τeff = τin / aeff^γ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4315968"/>
            <a:ext cx="4023360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52606D"/>
                </a:solidFill>
                <a:latin typeface="Microsoft YaHei"/>
              </a:rPr>
              <a:t>重复选择敏感范围：γ = 0.60–0.68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181344"/>
            <a:ext cx="1083564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20" b="1">
                <a:solidFill>
                  <a:srgbClr val="F28E2B"/>
                </a:solidFill>
                <a:latin typeface="Microsoft YaHei"/>
              </a:rPr>
              <a:t>建议用 γ≈0.65 + 分段 aeff；不建议将局部拟合的 γ≈2.3–2.6 当作全局物理参数。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b. 数据筛选与优化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2606D"/>
                </a:solidFill>
                <a:latin typeface="Microsoft YaHei"/>
              </a:rPr>
              <a:t>不把所有偏差都当作阀门特性：先分离记录错误、夹闭点和低重复性试验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>
                <a:solidFill>
                  <a:srgbClr val="52606D"/>
                </a:solidFill>
                <a:latin typeface="Microsoft YaHei"/>
              </a:rPr>
              <a:t>9</a:t>
            </a:r>
          </a:p>
        </p:txBody>
      </p:sp>
      <p:pic>
        <p:nvPicPr>
          <p:cNvPr id="6" name="Picture 5" descr="tau_repeatability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08176"/>
            <a:ext cx="562356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56832" y="1444752"/>
            <a:ext cx="4251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20" b="1">
                <a:solidFill>
                  <a:srgbClr val="D1495B"/>
                </a:solidFill>
                <a:latin typeface="Microsoft YaHei"/>
              </a:rPr>
              <a:t>37.csv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2" y="1792224"/>
            <a:ext cx="35661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Microsoft YaHei"/>
              </a:rPr>
              <a:t>文件名 3.7 V；遥测 PPV 全程 0 V。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68712" y="1938528"/>
            <a:ext cx="89611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69" b="1">
                <a:solidFill>
                  <a:srgbClr val="D1495B"/>
                </a:solidFill>
                <a:latin typeface="Microsoft YaHei"/>
              </a:rPr>
              <a:t>剔除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2" y="2542032"/>
            <a:ext cx="4251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20" b="1">
                <a:solidFill>
                  <a:srgbClr val="169C89"/>
                </a:solidFill>
                <a:latin typeface="Microsoft YaHei"/>
              </a:rPr>
              <a:t>42.csv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2889503"/>
            <a:ext cx="35661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Microsoft YaHei"/>
              </a:rPr>
              <a:t>反复 ATM_ON 仍无流量；4.2 V 确认夹闭。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68712" y="3035808"/>
            <a:ext cx="89611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69" b="1">
                <a:solidFill>
                  <a:srgbClr val="169C89"/>
                </a:solidFill>
                <a:latin typeface="Microsoft YaHei"/>
              </a:rPr>
              <a:t>保留闭点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3639312"/>
            <a:ext cx="4251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20" b="1">
                <a:solidFill>
                  <a:srgbClr val="F28E2B"/>
                </a:solidFill>
                <a:latin typeface="Microsoft YaHei"/>
              </a:rPr>
              <a:t>33.csv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3986783"/>
            <a:ext cx="35661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Microsoft YaHei"/>
              </a:rPr>
              <a:t>与 33.1 差异大；后段有反向波动。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68712" y="4133087"/>
            <a:ext cx="89611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69" b="1">
                <a:solidFill>
                  <a:srgbClr val="F28E2B"/>
                </a:solidFill>
                <a:latin typeface="Microsoft YaHei"/>
              </a:rPr>
              <a:t>低信心度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4736592"/>
            <a:ext cx="4251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20" b="1">
                <a:solidFill>
                  <a:srgbClr val="F28E2B"/>
                </a:solidFill>
                <a:latin typeface="Microsoft YaHei"/>
              </a:rPr>
              <a:t>35.2/35.3.csv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5084064"/>
            <a:ext cx="35661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Microsoft YaHei"/>
              </a:rPr>
              <a:t>记录后才设 3.5 V；结果偏低。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68712" y="5230368"/>
            <a:ext cx="89611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69" b="1">
                <a:solidFill>
                  <a:srgbClr val="F28E2B"/>
                </a:solidFill>
                <a:latin typeface="Microsoft YaHei"/>
              </a:rPr>
              <a:t>低信心度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5760720"/>
            <a:ext cx="46177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0">
                <a:solidFill>
                  <a:srgbClr val="52606D"/>
                </a:solidFill>
                <a:latin typeface="Microsoft YaHei"/>
              </a:rPr>
              <a:t>35.2/35.3 在 ATM 开启前已稳定约 3.26/3.77 s，不因操作顺序直接删除。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181344"/>
            <a:ext cx="1083564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20" b="1">
                <a:solidFill>
                  <a:srgbClr val="D1495B"/>
                </a:solidFill>
                <a:latin typeface="Microsoft YaHei"/>
              </a:rPr>
              <a:t>当前最大的实验误差源是每次 fake lung 初始压扁程度和机械状态不一致。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c. 误差分析：本次只辨识了吸气过程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2606D"/>
                </a:solidFill>
                <a:latin typeface="Microsoft YaHei"/>
              </a:rPr>
              <a:t>当前的 τ 是 ATM 吸气路径的 τin/τeff，并没有得到真空呼气路径的 τout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>
                <a:solidFill>
                  <a:srgbClr val="52606D"/>
                </a:solidFill>
                <a:latin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27632"/>
            <a:ext cx="29260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69C89"/>
                </a:solidFill>
                <a:latin typeface="Microsoft YaHei"/>
              </a:rPr>
              <a:t>已得到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267712"/>
            <a:ext cx="2880360" cy="2971800"/>
          </a:xfrm>
          <a:prstGeom prst="rect">
            <a:avLst/>
          </a:prstGeom>
          <a:noFill/>
        </p:spPr>
        <p:txBody>
          <a:bodyPr wrap="square" lIns="73152" rIns="27432" tIns="18288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  <a:defRPr sz="1370">
                <a:solidFill>
                  <a:srgbClr val="102A43"/>
                </a:solidFill>
                <a:latin typeface="Microsoft YaHei"/>
              </a:defRPr>
            </a:pPr>
            <a:r>
              <a:t>• 吸气流量 Q(t) 和积分体积 V(t)</a:t>
            </a:r>
          </a:p>
          <a:p>
            <a:pPr>
              <a:lnSpc>
                <a:spcPct val="114000"/>
              </a:lnSpc>
              <a:spcAft>
                <a:spcPts val="1200"/>
              </a:spcAft>
              <a:defRPr sz="1370">
                <a:solidFill>
                  <a:srgbClr val="102A43"/>
                </a:solidFill>
                <a:latin typeface="Microsoft YaHei"/>
              </a:defRPr>
            </a:pPr>
            <a:r>
              <a:t>• 全开 τin 与部分开度 τeff</a:t>
            </a:r>
          </a:p>
          <a:p>
            <a:pPr>
              <a:lnSpc>
                <a:spcPct val="114000"/>
              </a:lnSpc>
              <a:spcAft>
                <a:spcPts val="1200"/>
              </a:spcAft>
              <a:defRPr sz="1370">
                <a:solidFill>
                  <a:srgbClr val="102A43"/>
                </a:solidFill>
                <a:latin typeface="Microsoft YaHei"/>
              </a:defRPr>
            </a:pPr>
            <a:r>
              <a:t>• PPV 有效调节区、夹闭点和 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7952" y="1627632"/>
            <a:ext cx="29260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D1495B"/>
                </a:solidFill>
                <a:latin typeface="Microsoft YaHei"/>
              </a:rPr>
              <a:t>未得到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7952" y="2267712"/>
            <a:ext cx="2880360" cy="2971800"/>
          </a:xfrm>
          <a:prstGeom prst="rect">
            <a:avLst/>
          </a:prstGeom>
          <a:noFill/>
        </p:spPr>
        <p:txBody>
          <a:bodyPr wrap="square" lIns="73152" rIns="27432" tIns="18288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  <a:defRPr sz="1370">
                <a:solidFill>
                  <a:srgbClr val="102A43"/>
                </a:solidFill>
                <a:latin typeface="Microsoft YaHei"/>
              </a:defRPr>
            </a:pPr>
            <a:r>
              <a:t>• 呼气/真空收缩时间常数 τout</a:t>
            </a:r>
          </a:p>
          <a:p>
            <a:pPr>
              <a:lnSpc>
                <a:spcPct val="114000"/>
              </a:lnSpc>
              <a:spcAft>
                <a:spcPts val="1200"/>
              </a:spcAft>
              <a:defRPr sz="1370">
                <a:solidFill>
                  <a:srgbClr val="102A43"/>
                </a:solidFill>
                <a:latin typeface="Microsoft YaHei"/>
              </a:defRPr>
            </a:pPr>
            <a:r>
              <a:t>• PPV 命令到流量的独立纯延迟</a:t>
            </a:r>
          </a:p>
          <a:p>
            <a:pPr>
              <a:lnSpc>
                <a:spcPct val="114000"/>
              </a:lnSpc>
              <a:spcAft>
                <a:spcPts val="1200"/>
              </a:spcAft>
              <a:defRPr sz="1370">
                <a:solidFill>
                  <a:srgbClr val="102A43"/>
                </a:solidFill>
                <a:latin typeface="Microsoft YaHei"/>
              </a:defRPr>
            </a:pPr>
            <a:r>
              <a:t>• 阀前后压差：不能分离阀阻与顺应性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1627632"/>
            <a:ext cx="29260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28E2B"/>
                </a:solidFill>
                <a:latin typeface="Microsoft YaHei"/>
              </a:rPr>
              <a:t>工程影响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2672" y="2267712"/>
            <a:ext cx="2880360" cy="2971800"/>
          </a:xfrm>
          <a:prstGeom prst="rect">
            <a:avLst/>
          </a:prstGeom>
          <a:noFill/>
        </p:spPr>
        <p:txBody>
          <a:bodyPr wrap="square" lIns="73152" rIns="27432" tIns="18288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  <a:defRPr sz="1370">
                <a:solidFill>
                  <a:srgbClr val="102A43"/>
                </a:solidFill>
                <a:latin typeface="Microsoft YaHei"/>
              </a:defRPr>
            </a:pPr>
            <a:r>
              <a:t>• 真空源可调，τout 对当前吸气建模优先级较低</a:t>
            </a:r>
          </a:p>
          <a:p>
            <a:pPr>
              <a:lnSpc>
                <a:spcPct val="114000"/>
              </a:lnSpc>
              <a:spcAft>
                <a:spcPts val="1200"/>
              </a:spcAft>
              <a:defRPr sz="1370">
                <a:solidFill>
                  <a:srgbClr val="102A43"/>
                </a:solidFill>
                <a:latin typeface="Microsoft YaHei"/>
              </a:defRPr>
            </a:pPr>
            <a:r>
              <a:t>• 但要准确评估呼吸频率、I:E 和循环一致性，仍必须测 τout</a:t>
            </a:r>
          </a:p>
          <a:p>
            <a:pPr>
              <a:lnSpc>
                <a:spcPct val="114000"/>
              </a:lnSpc>
              <a:spcAft>
                <a:spcPts val="1200"/>
              </a:spcAft>
              <a:defRPr sz="1370">
                <a:solidFill>
                  <a:srgbClr val="102A43"/>
                </a:solidFill>
                <a:latin typeface="Microsoft YaHei"/>
              </a:defRPr>
            </a:pPr>
            <a:r>
              <a:t>• 建议在多个 vacuum 设定下分别辨识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81344"/>
            <a:ext cx="1083564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20" b="1">
                <a:solidFill>
                  <a:srgbClr val="F28E2B"/>
                </a:solidFill>
                <a:latin typeface="Microsoft YaHei"/>
              </a:rPr>
              <a:t>可调 vacuum 可用来修正呼气速度，但不能替代 τout 标定；完整控制模型仍需要吸气和呼气两组参数。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初步实验结果：数据不完美，但足以给出可用的初值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2606D"/>
                </a:solidFill>
                <a:latin typeface="Microsoft YaHei"/>
              </a:rPr>
              <a:t>参数用于初步模型和敏感性分析，不应当作最终高精度标定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>
                <a:solidFill>
                  <a:srgbClr val="52606D"/>
                </a:solidFill>
                <a:latin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572768"/>
            <a:ext cx="190195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69C89"/>
                </a:solidFill>
                <a:latin typeface="Microsoft YaHei"/>
              </a:rPr>
              <a:t>τin ≈ 1.9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011680"/>
            <a:ext cx="1901952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30" b="0">
                <a:solidFill>
                  <a:srgbClr val="52606D"/>
                </a:solidFill>
                <a:latin typeface="Microsoft YaHei"/>
              </a:rPr>
              <a:t>全开吸气；1.8–2.1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572768"/>
            <a:ext cx="190195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2364AA"/>
                </a:solidFill>
                <a:latin typeface="Microsoft YaHei"/>
              </a:rPr>
              <a:t>Ud ≈ 3.1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011680"/>
            <a:ext cx="1901952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30" b="0">
                <a:solidFill>
                  <a:srgbClr val="52606D"/>
                </a:solidFill>
                <a:latin typeface="Microsoft YaHei"/>
              </a:rPr>
              <a:t>开始明显调节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75504" y="1572768"/>
            <a:ext cx="190195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D1495B"/>
                </a:solidFill>
                <a:latin typeface="Microsoft YaHei"/>
              </a:rPr>
              <a:t>Uc = 4.2 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5504" y="2011680"/>
            <a:ext cx="1901952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30" b="0">
                <a:solidFill>
                  <a:srgbClr val="52606D"/>
                </a:solidFill>
                <a:latin typeface="Microsoft YaHei"/>
              </a:rPr>
              <a:t>确认完全夹闭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1572768"/>
            <a:ext cx="190195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28E2B"/>
                </a:solidFill>
                <a:latin typeface="Microsoft YaHei"/>
              </a:rPr>
              <a:t>γ ≈ 0.65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7" y="2011680"/>
            <a:ext cx="1901952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30" b="0">
                <a:solidFill>
                  <a:srgbClr val="52606D"/>
                </a:solidFill>
                <a:latin typeface="Microsoft YaHei"/>
              </a:rPr>
              <a:t>敏感范围 0.60–0.70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74352" y="1572768"/>
            <a:ext cx="190195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Microsoft YaHei"/>
              </a:rPr>
              <a:t>R² = 0.986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74352" y="2011680"/>
            <a:ext cx="1901952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30" b="0">
                <a:solidFill>
                  <a:srgbClr val="52606D"/>
                </a:solidFill>
                <a:latin typeface="Microsoft YaHei"/>
              </a:rPr>
              <a:t>τ—电压拟合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364992"/>
            <a:ext cx="46634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Microsoft YaHei"/>
              </a:rPr>
              <a:t>建议的吸气初步模型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886200"/>
            <a:ext cx="46634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364AA"/>
                </a:solidFill>
                <a:latin typeface="Microsoft YaHei"/>
              </a:rPr>
              <a:t>τeff = τin / aeff(U)^γ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480560"/>
            <a:ext cx="46177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80" b="0">
                <a:solidFill>
                  <a:srgbClr val="52606D"/>
                </a:solidFill>
                <a:latin typeface="Microsoft YaHei"/>
              </a:rPr>
              <a:t>aeff=1（U≤3.1 V）；3.1–4.2 V 线性降至 0；U≥4.2 V 夹闭。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364992"/>
            <a:ext cx="46634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Microsoft YaHei"/>
              </a:rPr>
              <a:t>该结果可以支持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86200"/>
            <a:ext cx="4526280" cy="1051560"/>
          </a:xfrm>
          <a:prstGeom prst="rect">
            <a:avLst/>
          </a:prstGeom>
          <a:noFill/>
        </p:spPr>
        <p:txBody>
          <a:bodyPr wrap="square" lIns="73152" rIns="27432" tIns="18288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  <a:defRPr sz="1400">
                <a:solidFill>
                  <a:srgbClr val="102A43"/>
                </a:solidFill>
                <a:latin typeface="Microsoft YaHei"/>
              </a:defRPr>
            </a:pPr>
            <a:r>
              <a:t>• 初步前馈模型参数化</a:t>
            </a:r>
          </a:p>
          <a:p>
            <a:pPr>
              <a:lnSpc>
                <a:spcPct val="114000"/>
              </a:lnSpc>
              <a:spcAft>
                <a:spcPts val="600"/>
              </a:spcAft>
              <a:defRPr sz="1400">
                <a:solidFill>
                  <a:srgbClr val="102A43"/>
                </a:solidFill>
                <a:latin typeface="Microsoft YaHei"/>
              </a:defRPr>
            </a:pPr>
            <a:r>
              <a:t>• 控制器中的参数敏感性测试</a:t>
            </a:r>
          </a:p>
          <a:p>
            <a:pPr>
              <a:lnSpc>
                <a:spcPct val="114000"/>
              </a:lnSpc>
              <a:spcAft>
                <a:spcPts val="600"/>
              </a:spcAft>
              <a:defRPr sz="1400">
                <a:solidFill>
                  <a:srgbClr val="102A43"/>
                </a:solidFill>
                <a:latin typeface="Microsoft YaHei"/>
              </a:defRPr>
            </a:pPr>
            <a:r>
              <a:t>• 后续硬件循环实验的基准组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181344"/>
            <a:ext cx="1083564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20" b="1">
                <a:solidFill>
                  <a:srgbClr val="2364AA"/>
                </a:solidFill>
                <a:latin typeface="Microsoft YaHei"/>
              </a:rPr>
              <a:t>关键是使用“分段有效开度 + γ≈0.65”，不是保留 a=1−U/5 后只修改 γ。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Future work：今天下午的测试计划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2606D"/>
                </a:solidFill>
                <a:latin typeface="Microsoft YaHei"/>
              </a:rPr>
              <a:t>今天已拿到 vacuum source；下午将补齐呼气参数，并观察整个控制在多个呼吸循环中的表现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>
                <a:solidFill>
                  <a:srgbClr val="52606D"/>
                </a:solidFill>
                <a:latin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737360"/>
            <a:ext cx="62179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D1495B"/>
                </a:solidFill>
                <a:latin typeface="Microsoft YaHe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9928" y="1737360"/>
            <a:ext cx="3822191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D1495B"/>
                </a:solidFill>
                <a:latin typeface="Microsoft YaHei"/>
              </a:rPr>
              <a:t>Vacuum/呼气实验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2231136"/>
            <a:ext cx="3822191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70" b="0">
                <a:solidFill>
                  <a:srgbClr val="102A43"/>
                </a:solidFill>
                <a:latin typeface="Microsoft YaHei"/>
              </a:rPr>
              <a:t>在多个负压设定下记录流量，辨识 τout 和收缩体积。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7" y="1737360"/>
            <a:ext cx="62179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28E2B"/>
                </a:solidFill>
                <a:latin typeface="Microsoft YaHei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7768" y="1737360"/>
            <a:ext cx="3822191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28E2B"/>
                </a:solidFill>
                <a:latin typeface="Microsoft YaHei"/>
              </a:rPr>
              <a:t>PPV 阶跃与延迟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7768" y="2231136"/>
            <a:ext cx="3822191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70" b="0">
                <a:solidFill>
                  <a:srgbClr val="102A43"/>
                </a:solidFill>
                <a:latin typeface="Microsoft YaHei"/>
              </a:rPr>
              <a:t>ATM 已打开、压差稳定时单独阶跃 PPV，同步记录命令和流量。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886200"/>
            <a:ext cx="62179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169C89"/>
                </a:solidFill>
                <a:latin typeface="Microsoft YaHei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3886200"/>
            <a:ext cx="3822191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69C89"/>
                </a:solidFill>
                <a:latin typeface="Microsoft YaHei"/>
              </a:rPr>
              <a:t>整个呼吸循环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4379976"/>
            <a:ext cx="3822191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70" b="0">
                <a:solidFill>
                  <a:srgbClr val="102A43"/>
                </a:solidFill>
                <a:latin typeface="Microsoft YaHei"/>
              </a:rPr>
              <a:t>运行多个连续吸气/呼气循环，检查相位切换和循环间重复性。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3886200"/>
            <a:ext cx="62179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364AA"/>
                </a:solidFill>
                <a:latin typeface="Microsoft YaHei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3886200"/>
            <a:ext cx="3822191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2364AA"/>
                </a:solidFill>
                <a:latin typeface="Microsoft YaHei"/>
              </a:rPr>
              <a:t>控制性能记录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4379976"/>
            <a:ext cx="3822191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70" b="0">
                <a:solidFill>
                  <a:srgbClr val="102A43"/>
                </a:solidFill>
                <a:latin typeface="Microsoft YaHei"/>
              </a:rPr>
              <a:t>同步保存目标/实测流量、积分体积、PPV 命令及 ATM/VAC 状态。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181344"/>
            <a:ext cx="1083564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20" b="1">
                <a:solidFill>
                  <a:srgbClr val="169C89"/>
                </a:solidFill>
                <a:latin typeface="Microsoft YaHei"/>
              </a:rPr>
              <a:t>下午的成功标志：获得 τout，并在多个呼吸循环中同时看到稳定的流量跟踪、体积和阀门切换。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附录：各电压的时间常数汇总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2606D"/>
                </a:solidFill>
                <a:latin typeface="Microsoft YaHei"/>
              </a:rPr>
              <a:t>表内范围为同一电压的最小—最大单次拟合值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>
                <a:solidFill>
                  <a:srgbClr val="52606D"/>
                </a:solidFill>
                <a:latin typeface="Microsoft YaHei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371600"/>
          <a:ext cx="10881358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6307"/>
                <a:gridCol w="699970"/>
                <a:gridCol w="1718109"/>
                <a:gridCol w="1972644"/>
                <a:gridCol w="2545347"/>
                <a:gridCol w="2608981"/>
              </a:tblGrid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电压/V</a:t>
                      </a:r>
                    </a:p>
                  </a:txBody>
                  <a:tcPr marL="36576" marR="36576" marT="9144" marB="9144" anchor="ctr">
                    <a:solidFill>
                      <a:srgbClr val="23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L="36576" marR="36576" marT="9144" marB="9144" anchor="ctr">
                    <a:solidFill>
                      <a:srgbClr val="23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τ中位/s</a:t>
                      </a:r>
                    </a:p>
                  </a:txBody>
                  <a:tcPr marL="36576" marR="36576" marT="9144" marB="9144" anchor="ctr">
                    <a:solidFill>
                      <a:srgbClr val="23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τ范围/s</a:t>
                      </a:r>
                    </a:p>
                  </a:txBody>
                  <a:tcPr marL="36576" marR="36576" marT="9144" marB="9144" anchor="ctr">
                    <a:solidFill>
                      <a:srgbClr val="23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峰值流量/SLM</a:t>
                      </a:r>
                    </a:p>
                  </a:txBody>
                  <a:tcPr marL="36576" marR="36576" marT="9144" marB="9144" anchor="ctr">
                    <a:solidFill>
                      <a:srgbClr val="23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体积中位/mL</a:t>
                      </a:r>
                    </a:p>
                  </a:txBody>
                  <a:tcPr marL="36576" marR="36576" marT="9144" marB="9144" anchor="ctr">
                    <a:solidFill>
                      <a:srgbClr val="2364AA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1.91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1.91–1.91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51.7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1602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1.81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1.76–1.85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47.9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1569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1.81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1.72–1.90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61.7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1674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2.02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1.93–2.28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48.5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1569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1.76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1.76–1.76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53.0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1571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3.2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2.05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1.92–2.18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41.2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1528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2.56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2.19–2.92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39.7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1539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3.4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2.23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2.16–2.31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37.7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1513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3.5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2.39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2.04–2.99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35.5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1375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3.6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2.72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2.62–3.61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23.0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1396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3.7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3.29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3.25–3.33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16.3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1291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3.75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3.76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2.97–3.77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17.9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1342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3.8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3.44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3.23–3.51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16.5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1323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3.85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3.77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3.62–3.92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18.4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1078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3.9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4.67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4.62–4.72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12.4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1245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5.38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5.38–5.38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13.1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1193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4.1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9.41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9.41–9.41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5.6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837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7490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4.2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夹闭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≈0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02A4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PPV40V 电气校准与吸气动态辨识</dc:title>
  <dc:subject>PWM—电压扫描和 fake lung 吸气流量实验</dc:subject>
  <dc:creator>LungLogic Capstone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
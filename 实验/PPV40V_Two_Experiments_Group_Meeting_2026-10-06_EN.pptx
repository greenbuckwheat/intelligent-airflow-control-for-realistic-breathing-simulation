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5" r:id="rId9"/>
    <p:sldId id="266" r:id="rId10"/>
    <p:sldId id="267" r:id="rId11"/>
    <p:sldId id="268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2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5"/>
        <p:guide pos="28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60704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40" b="1">
                <a:solidFill>
                  <a:srgbClr val="102A43"/>
                </a:solidFill>
                <a:latin typeface="Arial" panose="020B0604020202020204"/>
              </a:rPr>
              <a:t>PPV40V Bench Experiments</a:t>
            </a:r>
            <a:endParaRPr sz="344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536" y="2450592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55" b="0">
                <a:solidFill>
                  <a:srgbClr val="52606D"/>
                </a:solidFill>
                <a:latin typeface="Arial" panose="020B0604020202020204"/>
              </a:rPr>
              <a:t>PWM–voltage calibration and fake-lung inspiration modelling</a:t>
            </a:r>
            <a:endParaRPr sz="195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9536" y="3200400"/>
            <a:ext cx="3703320" cy="73152"/>
          </a:xfrm>
          <a:prstGeom prst="rect">
            <a:avLst/>
          </a:prstGeom>
          <a:solidFill>
            <a:srgbClr val="169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61104"/>
            <a:ext cx="49377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Arial" panose="020B0604020202020204"/>
              </a:rPr>
              <a:t>2026-10-06</a:t>
            </a:r>
            <a:endParaRPr sz="130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96912" y="3685032"/>
            <a:ext cx="34747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65" b="1">
                <a:solidFill>
                  <a:srgbClr val="2364AA"/>
                </a:solidFill>
                <a:latin typeface="Arial" panose="020B0604020202020204"/>
              </a:rPr>
              <a:t>Two experiments</a:t>
            </a:r>
            <a:endParaRPr sz="1765" b="1">
              <a:solidFill>
                <a:srgbClr val="2364AA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96912" y="4169663"/>
            <a:ext cx="34747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102A43"/>
                </a:solidFill>
                <a:latin typeface="Arial" panose="020B0604020202020204"/>
              </a:rPr>
              <a:t>1. PCB/Arduino PWM → voltage</a:t>
            </a:r>
            <a:endParaRPr sz="1350" b="0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96912" y="4608576"/>
            <a:ext cx="34747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102A43"/>
                </a:solidFill>
                <a:latin typeface="Arial" panose="020B0604020202020204"/>
              </a:rPr>
              <a:t>2. PPV voltage → inspiratory flow</a:t>
            </a:r>
            <a:endParaRPr sz="1350" b="0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6181344"/>
            <a:ext cx="10469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70" b="0">
                <a:solidFill>
                  <a:srgbClr val="52606D"/>
                </a:solidFill>
                <a:latin typeface="Arial" panose="020B0604020202020204"/>
              </a:rPr>
              <a:t>Preliminary parameter identification and test-quality review</a:t>
            </a:r>
            <a:endParaRPr sz="1070" b="0">
              <a:solidFill>
                <a:srgbClr val="52606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65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2500" b="1">
                <a:solidFill>
                  <a:srgbClr val="102A43"/>
                </a:solidFill>
                <a:latin typeface="Arial" panose="020B0604020202020204"/>
              </a:rPr>
              <a:t>Introduction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>
                <a:solidFill>
                  <a:srgbClr val="52606D"/>
                </a:solidFill>
                <a:latin typeface="Arial" panose="020B0604020202020204"/>
              </a:rPr>
              <a:t>Electrical command conversion and pneumatic system response</a:t>
            </a:r>
            <a:endParaRPr sz="116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2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45" b="1">
                <a:solidFill>
                  <a:srgbClr val="2364AA"/>
                </a:solidFill>
                <a:latin typeface="Arial" panose="020B0604020202020204"/>
              </a:rPr>
              <a:t>Experiment 1: PWM–voltage sweep</a:t>
            </a:r>
            <a:endParaRPr sz="2045" b="1">
              <a:solidFill>
                <a:srgbClr val="2364AA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87552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624328"/>
            <a:ext cx="1097280" cy="2501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60" b="1">
                <a:solidFill>
                  <a:srgbClr val="102A43"/>
                </a:solidFill>
                <a:latin typeface="Arial" panose="020B0604020202020204"/>
              </a:rPr>
              <a:t>PWM </a:t>
            </a:r>
            <a:endParaRPr sz="116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704" y="3008376"/>
            <a:ext cx="1097280" cy="2305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US" sz="1025" b="0">
                <a:solidFill>
                  <a:srgbClr val="52606D"/>
                </a:solidFill>
                <a:latin typeface="Arial" panose="020B0604020202020204"/>
              </a:rPr>
              <a:t>0%-100%</a:t>
            </a:r>
            <a:endParaRPr lang="en-US" sz="102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32888" y="2468880"/>
            <a:ext cx="1508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624328"/>
            <a:ext cx="1371600" cy="2501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US" sz="1160" b="1">
                <a:solidFill>
                  <a:srgbClr val="102A43"/>
                </a:solidFill>
                <a:latin typeface="Arial" panose="020B0604020202020204"/>
              </a:rPr>
              <a:t>PCB+STM32</a:t>
            </a:r>
            <a:endParaRPr lang="en-US" sz="116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6040" y="3008376"/>
            <a:ext cx="1371600" cy="3886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US" sz="1025" b="0">
                <a:solidFill>
                  <a:srgbClr val="52606D"/>
                </a:solidFill>
                <a:latin typeface="Arial" panose="020B0604020202020204"/>
              </a:rPr>
              <a:t>bias from nominal value</a:t>
            </a:r>
            <a:endParaRPr lang="en-US" sz="102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43400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624328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60" b="1">
                <a:solidFill>
                  <a:srgbClr val="102A43"/>
                </a:solidFill>
                <a:latin typeface="Arial" panose="020B0604020202020204"/>
              </a:rPr>
              <a:t>Multimeter</a:t>
            </a:r>
            <a:endParaRPr sz="116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6552" y="3008376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25" b="0">
                <a:solidFill>
                  <a:srgbClr val="52606D"/>
                </a:solidFill>
                <a:latin typeface="Arial" panose="020B0604020202020204"/>
              </a:rPr>
              <a:t>0–5 V</a:t>
            </a:r>
            <a:endParaRPr sz="1025" b="0">
              <a:solidFill>
                <a:srgbClr val="52606D"/>
              </a:solidFill>
              <a:latin typeface="Arial" panose="020B0604020202020204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221992" y="2971800"/>
            <a:ext cx="265176" cy="0"/>
          </a:xfrm>
          <a:prstGeom prst="line">
            <a:avLst/>
          </a:prstGeom>
          <a:ln w="2540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50791" y="2971800"/>
            <a:ext cx="246889" cy="0"/>
          </a:xfrm>
          <a:prstGeom prst="line">
            <a:avLst/>
          </a:prstGeom>
          <a:ln w="2540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7552" y="3840480"/>
            <a:ext cx="4480560" cy="292735"/>
          </a:xfrm>
          <a:prstGeom prst="rect">
            <a:avLst/>
          </a:prstGeom>
          <a:noFill/>
        </p:spPr>
        <p:txBody>
          <a:bodyPr wrap="square" lIns="73152" tIns="18288" rIns="27432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  <a:defRPr sz="1305">
                <a:solidFill>
                  <a:srgbClr val="102A43"/>
                </a:solidFill>
                <a:latin typeface="Arial" panose="020B0604020202020204"/>
              </a:defRPr>
            </a:pPr>
            <a:r>
              <a:t>• Linearity, steady-state error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1737360"/>
            <a:ext cx="46634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45" b="1">
                <a:solidFill>
                  <a:srgbClr val="169C89"/>
                </a:solidFill>
                <a:latin typeface="Arial" panose="020B0604020202020204"/>
              </a:rPr>
              <a:t>Experiment 2: fake-lung inspiration</a:t>
            </a:r>
            <a:endParaRPr sz="2045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56248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624328"/>
            <a:ext cx="10881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60" b="1">
                <a:solidFill>
                  <a:srgbClr val="102A43"/>
                </a:solidFill>
                <a:latin typeface="Arial" panose="020B0604020202020204"/>
              </a:rPr>
              <a:t>PPV voltage</a:t>
            </a:r>
            <a:endParaRPr sz="116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29400" y="3008376"/>
            <a:ext cx="10881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25" b="0">
                <a:solidFill>
                  <a:srgbClr val="52606D"/>
                </a:solidFill>
                <a:latin typeface="Arial" panose="020B0604020202020204"/>
              </a:rPr>
              <a:t>0–4.2 V</a:t>
            </a:r>
            <a:endParaRPr sz="102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56448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624328"/>
            <a:ext cx="10881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60" b="1">
                <a:solidFill>
                  <a:srgbClr val="102A43"/>
                </a:solidFill>
                <a:latin typeface="Arial" panose="020B0604020202020204"/>
              </a:rPr>
              <a:t>Open ATM</a:t>
            </a:r>
            <a:endParaRPr sz="116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0" y="3008376"/>
            <a:ext cx="10881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25" b="0">
                <a:solidFill>
                  <a:srgbClr val="52606D"/>
                </a:solidFill>
                <a:latin typeface="Arial" panose="020B0604020202020204"/>
              </a:rPr>
              <a:t>Inspiration step</a:t>
            </a:r>
            <a:endParaRPr sz="102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756648" y="246888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624328"/>
            <a:ext cx="10881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60" b="1">
                <a:solidFill>
                  <a:srgbClr val="102A43"/>
                </a:solidFill>
                <a:latin typeface="Arial" panose="020B0604020202020204"/>
              </a:rPr>
              <a:t>SFM3300</a:t>
            </a:r>
            <a:endParaRPr sz="116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29800" y="3008376"/>
            <a:ext cx="1088136" cy="2305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US" sz="1025" b="0">
                <a:solidFill>
                  <a:srgbClr val="52606D"/>
                </a:solidFill>
                <a:latin typeface="Arial" panose="020B0604020202020204"/>
              </a:rPr>
              <a:t>flow </a:t>
            </a:r>
            <a:r>
              <a:rPr lang="en-US" sz="1025" b="0">
                <a:solidFill>
                  <a:srgbClr val="52606D"/>
                </a:solidFill>
                <a:latin typeface="Arial" panose="020B0604020202020204"/>
              </a:rPr>
              <a:t>rate</a:t>
            </a:r>
            <a:endParaRPr lang="en-US" sz="1025" b="0">
              <a:solidFill>
                <a:srgbClr val="52606D"/>
              </a:solidFill>
              <a:latin typeface="Arial" panose="020B0604020202020204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790688" y="2971800"/>
            <a:ext cx="320039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90888" y="2971800"/>
            <a:ext cx="320040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56248" y="3840480"/>
            <a:ext cx="4480560" cy="1234440"/>
          </a:xfrm>
          <a:prstGeom prst="rect">
            <a:avLst/>
          </a:prstGeom>
          <a:noFill/>
        </p:spPr>
        <p:txBody>
          <a:bodyPr wrap="square" lIns="73152" tIns="18288" rIns="27432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  <a:defRPr sz="1305">
                <a:solidFill>
                  <a:srgbClr val="102A43"/>
                </a:solidFill>
                <a:latin typeface="Arial" panose="020B0604020202020204"/>
              </a:defRPr>
            </a:pPr>
            <a:r>
              <a:t>• Time constant, control range, closure voltage and γ</a:t>
            </a:r>
          </a:p>
          <a:p>
            <a:pPr>
              <a:lnSpc>
                <a:spcPct val="114000"/>
              </a:lnSpc>
              <a:spcAft>
                <a:spcPts val="800"/>
              </a:spcAft>
              <a:defRPr sz="1305">
                <a:solidFill>
                  <a:srgbClr val="102A43"/>
                </a:solidFill>
                <a:latin typeface="Arial" panose="020B0604020202020204"/>
              </a:defRPr>
            </a:pPr>
            <a:r>
              <a:t>• PPV was preset; its actuation delay cannot be isolated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181344"/>
            <a:ext cx="1083564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5" b="1">
                <a:solidFill>
                  <a:srgbClr val="169C89"/>
                </a:solidFill>
                <a:latin typeface="Arial" panose="020B0604020202020204"/>
              </a:rPr>
              <a:t>The electrical calibration supports interpreting the flow plateau as a pneumatic-system effect.</a:t>
            </a:r>
            <a:endParaRPr sz="1225" b="1">
              <a:solidFill>
                <a:srgbClr val="169C8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7055" y="48006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Experiment 1: output voltage closely follows the PWM command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3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pic>
        <p:nvPicPr>
          <p:cNvPr id="6" name="Picture 5" descr="electrical_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6995160" cy="4498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45552" y="1444752"/>
            <a:ext cx="340156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80" b="1">
                <a:solidFill>
                  <a:srgbClr val="2364AA"/>
                </a:solidFill>
                <a:latin typeface="Arial" panose="020B0604020202020204"/>
              </a:rPr>
              <a:t>Method</a:t>
            </a:r>
            <a:endParaRPr sz="1580" b="1">
              <a:solidFill>
                <a:srgbClr val="2364AA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45552" y="1847088"/>
            <a:ext cx="340156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25" b="0">
                <a:solidFill>
                  <a:srgbClr val="102A43"/>
                </a:solidFill>
                <a:latin typeface="Arial" panose="020B0604020202020204"/>
              </a:rPr>
              <a:t>Sweep 0–100%, then 100–0%</a:t>
            </a:r>
            <a:endParaRPr sz="1225" b="0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45552" y="2450592"/>
            <a:ext cx="340156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80" b="1">
                <a:solidFill>
                  <a:srgbClr val="2364AA"/>
                </a:solidFill>
                <a:latin typeface="Arial" panose="020B0604020202020204"/>
              </a:rPr>
              <a:t>Measured results</a:t>
            </a:r>
            <a:endParaRPr sz="1580" b="1">
              <a:solidFill>
                <a:srgbClr val="2364AA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45552" y="2871216"/>
            <a:ext cx="3401568" cy="477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102A43"/>
                </a:solidFill>
                <a:latin typeface="Arial" panose="020B0604020202020204"/>
              </a:rPr>
              <a:t>• Maximum error: 7.4 mV
• Max. up/down difference: 1.0 mV</a:t>
            </a:r>
            <a:endParaRPr sz="1320" b="0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45425" y="4531360"/>
            <a:ext cx="3648710" cy="973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210" b="1">
                <a:solidFill>
                  <a:srgbClr val="169C89"/>
                </a:solidFill>
                <a:latin typeface="Arial" panose="020B0604020202020204"/>
              </a:rPr>
              <a:t>Conclusion</a:t>
            </a:r>
            <a:endParaRPr sz="1210" b="1">
              <a:solidFill>
                <a:srgbClr val="169C89"/>
              </a:solidFill>
              <a:latin typeface="Arial" panose="020B0604020202020204"/>
            </a:endParaRPr>
          </a:p>
          <a:p>
            <a:pPr algn="l"/>
            <a:endParaRPr lang="en-US" sz="1210" b="1">
              <a:solidFill>
                <a:srgbClr val="169C89"/>
              </a:solidFill>
              <a:latin typeface="Arial" panose="020B0604020202020204"/>
            </a:endParaRPr>
          </a:p>
          <a:p>
            <a:pPr algn="l"/>
            <a:r>
              <a:rPr lang="en-US" altLang="zh-CN" sz="1210" b="1">
                <a:solidFill>
                  <a:srgbClr val="169C89"/>
                </a:solidFill>
                <a:latin typeface="Arial" panose="020B0604020202020204"/>
              </a:rPr>
              <a:t>Passing through the PCB and bridge board does not affect the ideal voltage output (i.e., the boards do not interfere with the pinch valve control).</a:t>
            </a:r>
            <a:endParaRPr lang="en-US" altLang="zh-CN" sz="1210" b="1">
              <a:solidFill>
                <a:srgbClr val="169C8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Experiment 2: inspiration at a fixed PPV voltage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>
                <a:solidFill>
                  <a:srgbClr val="52606D"/>
                </a:solidFill>
                <a:latin typeface="Arial" panose="020B0604020202020204"/>
              </a:rPr>
              <a:t>Manually compress the fake lung, then open ATM to initiate inspiration</a:t>
            </a:r>
            <a:endParaRPr sz="116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4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984248"/>
            <a:ext cx="32918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9C89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956816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 panose="020B0604020202020204"/>
              </a:rPr>
              <a:t>Compress lung</a:t>
            </a:r>
            <a:endParaRPr sz="132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2487168"/>
            <a:ext cx="15361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Arial" panose="020B0604020202020204"/>
              </a:rPr>
              <a:t>Manual initial state</a:t>
            </a:r>
            <a:endParaRPr sz="1080" b="0">
              <a:solidFill>
                <a:srgbClr val="52606D"/>
              </a:solidFill>
              <a:latin typeface="Arial" panose="020B0604020202020204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395728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16352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984248"/>
            <a:ext cx="32918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9C89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46120" y="1956816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 panose="020B0604020202020204"/>
              </a:rPr>
              <a:t>Close ATM/VAC</a:t>
            </a:r>
            <a:endParaRPr sz="132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80944" y="2487168"/>
            <a:ext cx="15361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Arial" panose="020B0604020202020204"/>
              </a:rPr>
              <a:t>Isolate the circuit</a:t>
            </a:r>
            <a:endParaRPr sz="1080" b="0">
              <a:solidFill>
                <a:srgbClr val="52606D"/>
              </a:solidFill>
              <a:latin typeface="Arial" panose="020B060402020202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3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799" y="1984248"/>
            <a:ext cx="32918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9C89"/>
                </a:solidFill>
                <a:latin typeface="Arial" panose="020B0604020202020204"/>
              </a:rPr>
              <a:t>3</a:t>
            </a:r>
            <a:endParaRPr sz="130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59551" y="1956816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 panose="020B0604020202020204"/>
              </a:rPr>
              <a:t>Set PPV</a:t>
            </a:r>
            <a:endParaRPr sz="132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94375" y="2487168"/>
            <a:ext cx="15361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Arial" panose="020B0604020202020204"/>
              </a:rPr>
              <a:t>0–4.2 V</a:t>
            </a:r>
            <a:endParaRPr sz="1080" b="0">
              <a:solidFill>
                <a:srgbClr val="52606D"/>
              </a:solidFill>
              <a:latin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022592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43216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1984248"/>
            <a:ext cx="32918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9C89"/>
                </a:solidFill>
                <a:latin typeface="Arial" panose="020B0604020202020204"/>
              </a:rPr>
              <a:t>4</a:t>
            </a:r>
            <a:endParaRPr sz="130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2984" y="1956816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 panose="020B0604020202020204"/>
              </a:rPr>
              <a:t>Open ATM</a:t>
            </a:r>
            <a:endParaRPr sz="132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07808" y="2487168"/>
            <a:ext cx="15361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Arial" panose="020B0604020202020204"/>
              </a:rPr>
              <a:t>Inspiration</a:t>
            </a:r>
            <a:endParaRPr sz="1080" b="0">
              <a:solidFill>
                <a:srgbClr val="52606D"/>
              </a:solidFill>
              <a:latin typeface="Arial" panose="020B0604020202020204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336024" y="2496312"/>
            <a:ext cx="356616" cy="0"/>
          </a:xfrm>
          <a:prstGeom prst="line">
            <a:avLst/>
          </a:prstGeom>
          <a:ln w="25400">
            <a:solidFill>
              <a:srgbClr val="169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56648" y="1828800"/>
            <a:ext cx="1874519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9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4664" y="1984248"/>
            <a:ext cx="32918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9C89"/>
                </a:solidFill>
                <a:latin typeface="Arial" panose="020B0604020202020204"/>
              </a:rPr>
              <a:t>5</a:t>
            </a:r>
            <a:endParaRPr sz="130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186416" y="1956816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 panose="020B0604020202020204"/>
              </a:rPr>
              <a:t>Record flow</a:t>
            </a:r>
            <a:endParaRPr sz="132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21240" y="2487168"/>
            <a:ext cx="15361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52606D"/>
                </a:solidFill>
                <a:latin typeface="Arial" panose="020B0604020202020204"/>
              </a:rPr>
              <a:t>SFM3300, 50 Hz</a:t>
            </a:r>
            <a:endParaRPr sz="108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7230" y="3529965"/>
            <a:ext cx="106870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Inspiratory flow curve ------ first order system</a:t>
            </a:r>
            <a:endParaRPr lang="en-US" altLang="zh-CN"/>
          </a:p>
          <a:p>
            <a:r>
              <a:rPr lang="en-US" altLang="zh-CN"/>
              <a:t>- inspired volume------tidal volumn</a:t>
            </a:r>
            <a:endParaRPr lang="en-US" altLang="zh-CN"/>
          </a:p>
          <a:p>
            <a:r>
              <a:rPr lang="en-US" altLang="zh-CN"/>
              <a:t>- Fully open time constant τin (</a:t>
            </a:r>
            <a:r>
              <a:rPr lang="en-US" altLang="zh-CN">
                <a:sym typeface="+mn-ea"/>
              </a:rPr>
              <a:t>τeff in fully open)</a:t>
            </a:r>
            <a:endParaRPr lang="en-US" altLang="zh-CN"/>
          </a:p>
          <a:p>
            <a:r>
              <a:rPr lang="en-US" altLang="zh-CN"/>
              <a:t>- Effective time constant τeff at different voltages</a:t>
            </a:r>
            <a:endParaRPr lang="en-US" altLang="zh-CN"/>
          </a:p>
          <a:p>
            <a:r>
              <a:rPr lang="en-US" altLang="zh-CN"/>
              <a:t>- PPV control range and closure voltage</a:t>
            </a:r>
            <a:endParaRPr lang="en-US" altLang="zh-CN"/>
          </a:p>
          <a:p>
            <a:r>
              <a:rPr lang="en-US" altLang="zh-CN"/>
              <a:t>- Nonlinearity parameter γ ----modeling parameter value about the PPV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99745"/>
            <a:ext cx="10789920" cy="4565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flow traces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6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600200"/>
            <a:ext cx="3129915" cy="4600575"/>
          </a:xfrm>
          <a:prstGeom prst="rect">
            <a:avLst/>
          </a:prstGeom>
          <a:noFill/>
        </p:spPr>
        <p:txBody>
          <a:bodyPr wrap="square" lIns="73152" tIns="18288" rIns="27432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rPr lang="en-US" altLang="zh-CN" sz="1600"/>
              <a:t>• 0–3.2 V: The curves decay at similar rates, indicating little valve restriction.</a:t>
            </a:r>
            <a:endParaRPr lang="en-US" altLang="zh-CN" sz="1600"/>
          </a:p>
          <a:p>
            <a:pPr>
              <a:lnSpc>
                <a:spcPct val="114000"/>
              </a:lnSpc>
              <a:spcAft>
                <a:spcPts val="8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rPr lang="en-US" altLang="zh-CN" sz="1600"/>
              <a:t>• 3.5–3.9 V: The flow peaks decrease, and inspiration takes longer.</a:t>
            </a:r>
            <a:endParaRPr lang="en-US" altLang="zh-CN" sz="1600"/>
          </a:p>
          <a:p>
            <a:pPr>
              <a:lnSpc>
                <a:spcPct val="114000"/>
              </a:lnSpc>
              <a:spcAft>
                <a:spcPts val="8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rPr lang="en-US" altLang="zh-CN" sz="1600"/>
              <a:t>• 4.1 V: The flow is much lower, and the response is significantly slower.</a:t>
            </a:r>
            <a:endParaRPr lang="en-US" altLang="zh-CN" sz="1600"/>
          </a:p>
          <a:p>
            <a:pPr>
              <a:lnSpc>
                <a:spcPct val="114000"/>
              </a:lnSpc>
              <a:spcAft>
                <a:spcPts val="8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rPr lang="en-US" altLang="zh-CN" sz="1600"/>
              <a:t>• 4.2 V: The flow is close to the baseline, indicating that the valve is fully closed.</a:t>
            </a:r>
            <a:endParaRPr lang="en-US" altLang="zh-CN" sz="1600"/>
          </a:p>
          <a:p>
            <a:pPr>
              <a:lnSpc>
                <a:spcPct val="114000"/>
              </a:lnSpc>
              <a:spcAft>
                <a:spcPts val="8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endParaRPr lang="en-US" altLang="zh-CN"/>
          </a:p>
          <a:p>
            <a:pPr>
              <a:lnSpc>
                <a:spcPct val="114000"/>
              </a:lnSpc>
              <a:spcAft>
                <a:spcPts val="8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rPr lang="en-US" altLang="zh-CN"/>
              <a:t>• Peak flow depends on the initial compression of the fake lung</a:t>
            </a:r>
            <a:endParaRPr lang="en-US" altLang="zh-CN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333375" y="1315085"/>
            <a:ext cx="8458835" cy="4530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16255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First-order time-constant identification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7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pic>
        <p:nvPicPr>
          <p:cNvPr id="6" name="Picture 5" descr="tau_voltage_f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7909560" cy="468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2520" y="1408303"/>
            <a:ext cx="257860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80" b="1">
                <a:solidFill>
                  <a:srgbClr val="169C89"/>
                </a:solidFill>
                <a:latin typeface="Arial" panose="020B0604020202020204"/>
              </a:rPr>
              <a:t>Initial results</a:t>
            </a:r>
            <a:endParaRPr sz="158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32520" y="1715770"/>
            <a:ext cx="3073400" cy="37655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altLang="zh-CN" sz="1600" b="0">
                <a:solidFill>
                  <a:srgbClr val="102A43"/>
                </a:solidFill>
                <a:latin typeface="Arial" panose="020B0604020202020204"/>
              </a:rPr>
              <a:t>The following initial modelling parameters were obtained:</a:t>
            </a:r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r>
              <a:rPr lang="en-US" altLang="zh-CN" sz="1600" b="0">
                <a:solidFill>
                  <a:srgbClr val="102A43"/>
                </a:solidFill>
                <a:latin typeface="Arial" panose="020B0604020202020204"/>
              </a:rPr>
              <a:t>• Fully open inspiratory time constant: τin ≈ 1.9 s </a:t>
            </a:r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r>
              <a:rPr lang="en-US" altLang="zh-CN" sz="1600" b="0">
                <a:solidFill>
                  <a:srgbClr val="102A43"/>
                </a:solidFill>
                <a:latin typeface="Arial" panose="020B0604020202020204"/>
              </a:rPr>
              <a:t>• Effective control onset voltage: Ud ≈ 3.1 V</a:t>
            </a:r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r>
              <a:rPr lang="en-US" altLang="zh-CN" sz="1600" b="0">
                <a:solidFill>
                  <a:srgbClr val="102A43"/>
                </a:solidFill>
                <a:latin typeface="Arial" panose="020B0604020202020204"/>
              </a:rPr>
              <a:t>• Full closure voltage: Uc ≈ 4.2 V</a:t>
            </a:r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r>
              <a:rPr lang="en-US" altLang="zh-CN" sz="1600" b="0">
                <a:solidFill>
                  <a:srgbClr val="102A43"/>
                </a:solidFill>
                <a:latin typeface="Arial" panose="020B0604020202020204"/>
              </a:rPr>
              <a:t>• Nonlinearity parameter: γ ≈ 0.65</a:t>
            </a:r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  <a:p>
            <a:pPr algn="l"/>
            <a:r>
              <a:rPr lang="en-US" altLang="zh-CN" sz="1600" b="0">
                <a:solidFill>
                  <a:srgbClr val="102A43"/>
                </a:solidFill>
                <a:latin typeface="Arial" panose="020B0604020202020204"/>
              </a:rPr>
              <a:t>• Effective time constant τeff </a:t>
            </a:r>
            <a:endParaRPr lang="en-US" altLang="zh-CN" sz="1600" b="0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6181344"/>
            <a:ext cx="1083564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5" b="1">
                <a:solidFill>
                  <a:srgbClr val="169C89"/>
                </a:solidFill>
                <a:latin typeface="Arial" panose="020B0604020202020204"/>
              </a:rPr>
              <a:t>Use τin ≈ 1.9 s as the fully open baseline; the time constant rises rapidly above 3.9 V.</a:t>
            </a:r>
            <a:endParaRPr sz="1225" b="1">
              <a:solidFill>
                <a:srgbClr val="169C89"/>
              </a:solidFill>
              <a:latin typeface="Arial" panose="020B060402020202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725" y="5629910"/>
            <a:ext cx="1606550" cy="843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7520"/>
            <a:ext cx="10789920" cy="4565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Limitations: only inspiration was identified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10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169C89"/>
                </a:solidFill>
                <a:latin typeface="Arial" panose="020B0604020202020204"/>
              </a:rPr>
              <a:t>Identified</a:t>
            </a:r>
            <a:endParaRPr sz="186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2267712"/>
            <a:ext cx="2880360" cy="1598930"/>
          </a:xfrm>
          <a:prstGeom prst="rect">
            <a:avLst/>
          </a:prstGeom>
          <a:noFill/>
        </p:spPr>
        <p:txBody>
          <a:bodyPr wrap="square" lIns="73152" tIns="18288" rIns="27432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•</a:t>
            </a:r>
            <a:r>
              <a:rPr lang="en-US" sz="1400"/>
              <a:t>basic modeling parameter: </a:t>
            </a:r>
            <a:endParaRPr lang="en-US" sz="1400"/>
          </a:p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Fully open τin and restricted-opening τeff</a:t>
            </a:r>
            <a:endParaRPr sz="1400"/>
          </a:p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• PPV control range, closure voltage and γ</a:t>
            </a:r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4187952" y="1627632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D1495B"/>
                </a:solidFill>
                <a:latin typeface="Arial" panose="020B0604020202020204"/>
              </a:rPr>
              <a:t>Still unknown</a:t>
            </a:r>
            <a:endParaRPr sz="1860" b="1">
              <a:solidFill>
                <a:srgbClr val="D1495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87952" y="2267712"/>
            <a:ext cx="2880360" cy="1199515"/>
          </a:xfrm>
          <a:prstGeom prst="rect">
            <a:avLst/>
          </a:prstGeom>
          <a:noFill/>
        </p:spPr>
        <p:txBody>
          <a:bodyPr wrap="square" lIns="73152" tIns="18288" rIns="27432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• Expiratory / vacuum-collapse time constant τout</a:t>
            </a:r>
            <a:endParaRPr sz="1400"/>
          </a:p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• Isolated PPV command-to-flow delay</a:t>
            </a:r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7662672" y="1627632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F28E2B"/>
                </a:solidFill>
                <a:latin typeface="Arial" panose="020B0604020202020204"/>
              </a:rPr>
              <a:t>Control implications</a:t>
            </a:r>
            <a:endParaRPr sz="1860" b="1">
              <a:solidFill>
                <a:srgbClr val="F28E2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62672" y="2267712"/>
            <a:ext cx="2880360" cy="2335530"/>
          </a:xfrm>
          <a:prstGeom prst="rect">
            <a:avLst/>
          </a:prstGeom>
          <a:noFill/>
        </p:spPr>
        <p:txBody>
          <a:bodyPr wrap="square" lIns="73152" tIns="18288" rIns="27432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• Vacuum is adjustable; τout is less urgent for the current inspiration model</a:t>
            </a:r>
            <a:endParaRPr sz="1400"/>
          </a:p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• τout is still needed to assess breathing rate, I:E ratio and cycle consistency</a:t>
            </a:r>
            <a:endParaRPr sz="1400"/>
          </a:p>
          <a:p>
            <a:pPr>
              <a:lnSpc>
                <a:spcPct val="114000"/>
              </a:lnSpc>
              <a:spcAft>
                <a:spcPts val="1200"/>
              </a:spcAft>
              <a:defRPr sz="1235">
                <a:solidFill>
                  <a:srgbClr val="102A43"/>
                </a:solidFill>
                <a:latin typeface="Arial" panose="020B0604020202020204"/>
              </a:defRPr>
            </a:pPr>
            <a:r>
              <a:rPr sz="1400"/>
              <a:t>• Identify τout at several vacuum settings</a:t>
            </a:r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658368" y="6181344"/>
            <a:ext cx="1083564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5" b="1">
                <a:solidFill>
                  <a:srgbClr val="F28E2B"/>
                </a:solidFill>
                <a:latin typeface="Arial" panose="020B0604020202020204"/>
              </a:rPr>
              <a:t>Adjustable vacuum can tune expiration speed; a complete model still needs both inspiratory and expiratory parameters.</a:t>
            </a:r>
            <a:endParaRPr sz="1225" b="1">
              <a:solidFill>
                <a:srgbClr val="F28E2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Preliminary results: usable initial model parameters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>
                <a:solidFill>
                  <a:srgbClr val="52606D"/>
                </a:solidFill>
                <a:latin typeface="Arial" panose="020B0604020202020204"/>
              </a:rPr>
              <a:t>Use these estimates for initial modelling and sensitivity analysis, rather than final calibration</a:t>
            </a:r>
            <a:endParaRPr sz="116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11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656" y="1572768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169C89"/>
                </a:solidFill>
                <a:latin typeface="Arial" panose="020B0604020202020204"/>
              </a:rPr>
              <a:t>τin ≈ 1.9 s</a:t>
            </a:r>
            <a:endParaRPr sz="186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2011680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Arial" panose="020B0604020202020204"/>
              </a:rPr>
              <a:t>Fully open; 1.8–2.1 s</a:t>
            </a:r>
            <a:endParaRPr sz="105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6080" y="1572768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2364AA"/>
                </a:solidFill>
                <a:latin typeface="Arial" panose="020B0604020202020204"/>
              </a:rPr>
              <a:t>Ud ≈ 3.1 V</a:t>
            </a:r>
            <a:endParaRPr sz="1860" b="1">
              <a:solidFill>
                <a:srgbClr val="2364AA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Arial" panose="020B0604020202020204"/>
              </a:rPr>
              <a:t>Control onset</a:t>
            </a:r>
            <a:endParaRPr sz="105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75504" y="1572768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D1495B"/>
                </a:solidFill>
                <a:latin typeface="Arial" panose="020B0604020202020204"/>
              </a:rPr>
              <a:t>Uc = 4.2 V</a:t>
            </a:r>
            <a:endParaRPr sz="1860" b="1">
              <a:solidFill>
                <a:srgbClr val="D1495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75504" y="2011680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Arial" panose="020B0604020202020204"/>
              </a:rPr>
              <a:t>Confirmed closure</a:t>
            </a:r>
            <a:endParaRPr sz="105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24927" y="1572768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F28E2B"/>
                </a:solidFill>
                <a:latin typeface="Arial" panose="020B0604020202020204"/>
              </a:rPr>
              <a:t>γ ≈ 0.65</a:t>
            </a:r>
            <a:endParaRPr sz="1860" b="1">
              <a:solidFill>
                <a:srgbClr val="F28E2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24927" y="2011680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Arial" panose="020B0604020202020204"/>
              </a:rPr>
              <a:t>Sensitivity: 0.60–0.70</a:t>
            </a:r>
            <a:endParaRPr sz="105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74352" y="1572768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>
                <a:solidFill>
                  <a:srgbClr val="2E7D32"/>
                </a:solidFill>
                <a:latin typeface="Arial" panose="020B0604020202020204"/>
              </a:rPr>
              <a:t>R² = 0.986</a:t>
            </a:r>
            <a:endParaRPr sz="186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74352" y="2011680"/>
            <a:ext cx="190195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Arial" panose="020B0604020202020204"/>
              </a:rPr>
              <a:t>τ–voltage fit</a:t>
            </a:r>
            <a:endParaRPr sz="105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4128" y="3364992"/>
            <a:ext cx="46634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75" b="1">
                <a:solidFill>
                  <a:srgbClr val="102A43"/>
                </a:solidFill>
                <a:latin typeface="Arial" panose="020B0604020202020204"/>
              </a:rPr>
              <a:t>Suggested initial inspiration model</a:t>
            </a:r>
            <a:endParaRPr sz="1675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" y="3886200"/>
            <a:ext cx="46634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60" b="1">
                <a:solidFill>
                  <a:srgbClr val="2364AA"/>
                </a:solidFill>
                <a:latin typeface="Arial" panose="020B0604020202020204"/>
              </a:rPr>
              <a:t>τeff = τin / aeff(U)^γ</a:t>
            </a:r>
            <a:endParaRPr sz="1860" b="1">
              <a:solidFill>
                <a:srgbClr val="2364AA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480560"/>
            <a:ext cx="46177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90" b="0">
                <a:solidFill>
                  <a:srgbClr val="52606D"/>
                </a:solidFill>
                <a:latin typeface="Arial" panose="020B0604020202020204"/>
              </a:rPr>
              <a:t>aeff=1 for U≤3.1 V; decreases linearly to 0 at 4.2 V; closed for U≥4.2 V.</a:t>
            </a:r>
            <a:endParaRPr sz="119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46634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75" b="1">
                <a:solidFill>
                  <a:srgbClr val="102A43"/>
                </a:solidFill>
                <a:latin typeface="Arial" panose="020B0604020202020204"/>
              </a:rPr>
              <a:t>Applications</a:t>
            </a:r>
            <a:endParaRPr sz="1675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526280" cy="1051560"/>
          </a:xfrm>
          <a:prstGeom prst="rect">
            <a:avLst/>
          </a:prstGeom>
          <a:noFill/>
        </p:spPr>
        <p:txBody>
          <a:bodyPr wrap="square" lIns="73152" tIns="18288" rIns="27432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t>• Initial feedforward model parameters</a:t>
            </a:r>
          </a:p>
          <a:p>
            <a:pPr>
              <a:lnSpc>
                <a:spcPct val="114000"/>
              </a:lnSpc>
              <a:spcAft>
                <a:spcPts val="6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t>• Controller parameter sensitivity tests</a:t>
            </a:r>
          </a:p>
          <a:p>
            <a:pPr>
              <a:lnSpc>
                <a:spcPct val="114000"/>
              </a:lnSpc>
              <a:spcAft>
                <a:spcPts val="600"/>
              </a:spcAft>
              <a:defRPr sz="1260">
                <a:solidFill>
                  <a:srgbClr val="102A43"/>
                </a:solidFill>
                <a:latin typeface="Arial" panose="020B0604020202020204"/>
              </a:defRPr>
            </a:pPr>
            <a:r>
              <a:t>• Baseline for subsequent breathing-cycle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81344"/>
            <a:ext cx="1083564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5" b="1">
                <a:solidFill>
                  <a:srgbClr val="2364AA"/>
                </a:solidFill>
                <a:latin typeface="Arial" panose="020B0604020202020204"/>
              </a:rPr>
              <a:t>Apply γ≈0.65 together with the piecewise effective opening aeff(U).</a:t>
            </a:r>
            <a:endParaRPr sz="1225" b="1">
              <a:solidFill>
                <a:srgbClr val="2364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3570"/>
            <a:ext cx="10789920" cy="4565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Future work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12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86968" y="1737360"/>
            <a:ext cx="6217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80" b="1">
                <a:solidFill>
                  <a:srgbClr val="D1495B"/>
                </a:solidFill>
                <a:latin typeface="Arial" panose="020B0604020202020204"/>
              </a:rPr>
              <a:t>1.</a:t>
            </a:r>
            <a:endParaRPr sz="1580" b="1">
              <a:solidFill>
                <a:srgbClr val="D1495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709928" y="1737360"/>
            <a:ext cx="3822191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80" b="1">
                <a:solidFill>
                  <a:srgbClr val="D1495B"/>
                </a:solidFill>
                <a:latin typeface="Arial" panose="020B0604020202020204"/>
              </a:rPr>
              <a:t>Vacuum / expiration tests</a:t>
            </a:r>
            <a:endParaRPr sz="1580" b="1">
              <a:solidFill>
                <a:srgbClr val="D1495B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709928" y="2231136"/>
            <a:ext cx="3822191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>
                <a:solidFill>
                  <a:srgbClr val="102A43"/>
                </a:solidFill>
                <a:latin typeface="Arial" panose="020B0604020202020204"/>
              </a:rPr>
              <a:t>Record flow at several vacuum settings; estimate τout and collapse volume.</a:t>
            </a:r>
            <a:endParaRPr sz="1180" b="0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6464807" y="1737360"/>
            <a:ext cx="6217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80" b="1">
                <a:solidFill>
                  <a:srgbClr val="F28E2B"/>
                </a:solidFill>
                <a:latin typeface="Arial" panose="020B0604020202020204"/>
              </a:rPr>
              <a:t>2.</a:t>
            </a:r>
            <a:endParaRPr sz="1580" b="1">
              <a:solidFill>
                <a:srgbClr val="F28E2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7287768" y="1737360"/>
            <a:ext cx="3822191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80" b="1">
                <a:solidFill>
                  <a:srgbClr val="F28E2B"/>
                </a:solidFill>
                <a:latin typeface="Arial" panose="020B0604020202020204"/>
              </a:rPr>
              <a:t>PPV step response and delay</a:t>
            </a:r>
            <a:endParaRPr sz="1580" b="1">
              <a:solidFill>
                <a:srgbClr val="F28E2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7287768" y="2231136"/>
            <a:ext cx="3822191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>
                <a:solidFill>
                  <a:srgbClr val="102A43"/>
                </a:solidFill>
                <a:latin typeface="Arial" panose="020B0604020202020204"/>
              </a:rPr>
              <a:t>With ATM open and pressure drop stable, step PPV and record command and flow together.</a:t>
            </a:r>
            <a:endParaRPr sz="1180" b="0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886968" y="3886200"/>
            <a:ext cx="6217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80" b="1">
                <a:solidFill>
                  <a:srgbClr val="169C89"/>
                </a:solidFill>
                <a:latin typeface="Arial" panose="020B0604020202020204"/>
              </a:rPr>
              <a:t>3.</a:t>
            </a:r>
            <a:endParaRPr sz="158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1709928" y="3886200"/>
            <a:ext cx="3822191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80" b="1">
                <a:solidFill>
                  <a:srgbClr val="169C89"/>
                </a:solidFill>
                <a:latin typeface="Arial" panose="020B0604020202020204"/>
              </a:rPr>
              <a:t>Complete breathing cycles</a:t>
            </a:r>
            <a:endParaRPr sz="1580" b="1">
              <a:solidFill>
                <a:srgbClr val="169C89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1709928" y="4379976"/>
            <a:ext cx="3822191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>
                <a:solidFill>
                  <a:srgbClr val="102A43"/>
                </a:solidFill>
                <a:latin typeface="Arial" panose="020B0604020202020204"/>
              </a:rPr>
              <a:t>Run consecutive inspiration / expiration cycles; check phase switching and repeatability.</a:t>
            </a:r>
            <a:endParaRPr sz="1180" b="0">
              <a:solidFill>
                <a:srgbClr val="102A4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rial" panose="020B0604020202020204"/>
              </a:rPr>
              <a:t>Appendix: time constants by voltage</a:t>
            </a:r>
            <a:endParaRPr sz="2500" b="1">
              <a:solidFill>
                <a:srgbClr val="102A43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>
                <a:solidFill>
                  <a:srgbClr val="52606D"/>
                </a:solidFill>
                <a:latin typeface="Arial" panose="020B0604020202020204"/>
              </a:rPr>
              <a:t>Ranges show the minimum and maximum individual fitted values at each voltage</a:t>
            </a:r>
            <a:endParaRPr sz="1160" b="0">
              <a:solidFill>
                <a:srgbClr val="52606D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85" b="0">
                <a:solidFill>
                  <a:srgbClr val="52606D"/>
                </a:solidFill>
                <a:latin typeface="Arial" panose="020B0604020202020204"/>
              </a:rPr>
              <a:t>13</a:t>
            </a:r>
            <a:endParaRPr sz="885" b="0">
              <a:solidFill>
                <a:srgbClr val="52606D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371600"/>
          <a:ext cx="1088135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307"/>
                <a:gridCol w="699970"/>
                <a:gridCol w="1718109"/>
                <a:gridCol w="1972644"/>
                <a:gridCol w="2545347"/>
                <a:gridCol w="2608981"/>
              </a:tblGrid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Voltage / V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n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Median τ / s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τ range / s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Peak flow / SLM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Median volume / mL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2364AA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1.91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1.91–1.91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51.7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1602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1.81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1.76–1.85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47.9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1569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1.81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1.72–1.90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61.7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1674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2.02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1.93–2.28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48.5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1569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1.76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1.76–1.76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53.0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1571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2.05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1.92–2.18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41.2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1528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2.56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2.19–2.92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39.7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1539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3.4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2.23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2.16–2.31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37.7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1513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2.39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2.04–2.99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35.5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1375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3.6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2.72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2.62–3.61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23.0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1396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3.29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3.25–3.33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16.3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1291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3.75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3.76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2.97–3.77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17.9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1342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3.8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3.44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3.23–3.51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16.5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1323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3.85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3.77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3.62–3.92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18.4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1078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3.9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4.67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4.62–4.72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12.4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1245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5.38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5.38–5.38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13.1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1193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  <a:tr h="25747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4.1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9.41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9.41–9.41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5.6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837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749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4.2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1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Closed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—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≈0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A43"/>
                          </a:solidFill>
                          <a:latin typeface="Arial" panose="020B0604020202020204"/>
                        </a:rPr>
                        <a:t>—</a:t>
                      </a:r>
                      <a:endParaRPr sz="1000" b="0">
                        <a:solidFill>
                          <a:srgbClr val="102A43"/>
                        </a:solidFill>
                        <a:latin typeface="Arial" panose="020B0604020202020204"/>
                      </a:endParaRPr>
                    </a:p>
                  </a:txBody>
                  <a:tcPr marL="36576" marR="36576" marT="9144" marB="9144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2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3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4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5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6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7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8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ags/tag9.xml><?xml version="1.0" encoding="utf-8"?>
<p:tagLst xmlns:p="http://schemas.openxmlformats.org/presentationml/2006/main">
  <p:tag name="KSO_WM_DIAGRAM_VIRTUALLY_FRAME" val="{&quot;height&quot;:257.03999999999996,&quot;left&quot;:69.84,&quot;top&quot;:136.8,&quot;width&quot;:804.95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4541</Words>
  <Application>WPS 演示</Application>
  <PresentationFormat>On-screen Show (4:3)</PresentationFormat>
  <Paragraphs>464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PPV40V: Electrical Calibration and Inspiratory Dynamics</dc:title>
  <dc:creator>LungLogic Capstone Team</dc:creator>
  <dc:description>generated using python-pptx</dc:description>
  <dc:subject>PWM–voltage sweep and fake-lung inspiration experiments</dc:subject>
  <cp:lastModifiedBy>Thominewt</cp:lastModifiedBy>
  <cp:revision>2</cp:revision>
  <dcterms:created xsi:type="dcterms:W3CDTF">2013-01-27T09:14:00Z</dcterms:created>
  <dcterms:modified xsi:type="dcterms:W3CDTF">2026-10-06T15:53:31Z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92CDE7899417453FB7198F102A3FBC09_12</vt:lpwstr>
  </property>
</Properties>
</file>